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Salary</c:v>
                </c:pt>
              </c:strCache>
            </c:strRef>
          </c:tx>
          <c:dPt>
            <c:idx val="0"/>
            <c:spPr>
              <a:solidFill>
                <a:srgbClr val="00E5C3"/>
              </a:solidFill>
            </c:spPr>
          </c:dPt>
          <c:dPt>
            <c:idx val="1"/>
            <c:spPr>
              <a:solidFill>
                <a:srgbClr val="FFB547"/>
              </a:solidFill>
            </c:spPr>
          </c:dPt>
          <c:dPt>
            <c:idx val="2"/>
            <c:spPr>
              <a:solidFill>
                <a:srgbClr val="FF6B6B"/>
              </a:solidFill>
            </c:spPr>
          </c:dPt>
          <c:dPt>
            <c:idx val="3"/>
            <c:spPr>
              <a:solidFill>
                <a:srgbClr val="A78BFA"/>
              </a:solidFill>
            </c:spPr>
          </c:dPt>
          <c:cat>
            <c:strRef>
              <c:f>Sheet1!$A$2:$A$5</c:f>
              <c:strCache>
                <c:ptCount val="4"/>
                <c:pt idx="0">
                  <c:v>Entry</c:v>
                </c:pt>
                <c:pt idx="1">
                  <c:v>Mid</c:v>
                </c:pt>
                <c:pt idx="2">
                  <c:v>Senior</c:v>
                </c:pt>
                <c:pt idx="3">
                  <c:v>Executive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56500</c:v>
                </c:pt>
                <c:pt idx="1">
                  <c:v>76940</c:v>
                </c:pt>
                <c:pt idx="2">
                  <c:v>135500</c:v>
                </c:pt>
                <c:pt idx="3">
                  <c:v>171438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 b="1">
                  <a:solidFill>
                    <a:srgbClr val="EDF2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Salary</c:v>
                </c:pt>
              </c:strCache>
            </c:strRef>
          </c:tx>
          <c:dPt>
            <c:idx val="0"/>
            <c:spPr>
              <a:solidFill>
                <a:srgbClr val="00E5C3"/>
              </a:solidFill>
            </c:spPr>
          </c:dPt>
          <c:dPt>
            <c:idx val="1"/>
            <c:spPr>
              <a:solidFill>
                <a:srgbClr val="38BDF8"/>
              </a:solidFill>
            </c:spPr>
          </c:dPt>
          <c:dPt>
            <c:idx val="2"/>
            <c:spPr>
              <a:solidFill>
                <a:srgbClr val="FFB547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A78BFA"/>
              </a:solidFill>
            </c:spPr>
          </c:dPt>
          <c:dPt>
            <c:idx val="5"/>
            <c:spPr>
              <a:solidFill>
                <a:srgbClr val="84CC16"/>
              </a:solidFill>
            </c:spPr>
          </c:dPt>
          <c:cat>
            <c:strRef>
              <c:f>Sheet1!$A$2:$A$7</c:f>
              <c:strCache>
                <c:ptCount val="6"/>
                <c:pt idx="0">
                  <c:v>Data Analyst</c:v>
                </c:pt>
                <c:pt idx="1">
                  <c:v>Data Scientist</c:v>
                </c:pt>
                <c:pt idx="2">
                  <c:v>Data Engineer</c:v>
                </c:pt>
                <c:pt idx="3">
                  <c:v>DS Manager</c:v>
                </c:pt>
                <c:pt idx="4">
                  <c:v>ML Scientist</c:v>
                </c:pt>
                <c:pt idx="5">
                  <c:v>Data Architect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90320</c:v>
                </c:pt>
                <c:pt idx="1">
                  <c:v>103691</c:v>
                </c:pt>
                <c:pt idx="2">
                  <c:v>105500</c:v>
                </c:pt>
                <c:pt idx="3">
                  <c:v>155750</c:v>
                </c:pt>
                <c:pt idx="4">
                  <c:v>156500</c:v>
                </c:pt>
                <c:pt idx="5">
                  <c:v>180000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 b="1">
                  <a:solidFill>
                    <a:srgbClr val="EDF2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Salary</c:v>
                </c:pt>
              </c:strCache>
            </c:strRef>
          </c:tx>
          <c:dPt>
            <c:idx val="0"/>
            <c:spPr>
              <a:solidFill>
                <a:srgbClr val="FFB547"/>
              </a:solidFill>
            </c:spPr>
          </c:dPt>
          <c:dPt>
            <c:idx val="1"/>
            <c:spPr>
              <a:solidFill>
                <a:srgbClr val="A78BFA"/>
              </a:solidFill>
            </c:spPr>
          </c:dPt>
          <c:dPt>
            <c:idx val="2"/>
            <c:spPr>
              <a:solidFill>
                <a:srgbClr val="00E5C3"/>
              </a:solidFill>
            </c:spPr>
          </c:dPt>
          <c:cat>
            <c:strRef>
              <c:f>Sheet1!$A$2:$A$4</c:f>
              <c:strCache>
                <c:ptCount val="3"/>
                <c:pt idx="0">
                  <c:v>On-site (0%)</c:v>
                </c:pt>
                <c:pt idx="1">
                  <c:v>Hybrid (50%)</c:v>
                </c:pt>
                <c:pt idx="2">
                  <c:v>Remote (100%)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99000</c:v>
                </c:pt>
                <c:pt idx="1">
                  <c:v>69999</c:v>
                </c:pt>
                <c:pt idx="2">
                  <c:v>115000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200" b="1">
                  <a:solidFill>
                    <a:srgbClr val="EDF2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-6400800"/>
            <a:ext cx="9144000" cy="9144000"/>
          </a:xfrm>
          <a:prstGeom prst="ellipse">
            <a:avLst/>
          </a:prstGeom>
          <a:solidFill>
            <a:srgbClr val="00E5C3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0" y="0"/>
            <a:ext cx="7315200" cy="7315200"/>
          </a:xfrm>
          <a:prstGeom prst="ellipse">
            <a:avLst/>
          </a:prstGeom>
          <a:solidFill>
            <a:srgbClr val="FF6B6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1828800"/>
            <a:ext cx="5486400" cy="5486400"/>
          </a:xfrm>
          <a:prstGeom prst="ellipse">
            <a:avLst/>
          </a:prstGeom>
          <a:solidFill>
            <a:srgbClr val="A78B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-4114800"/>
            <a:ext cx="5486400" cy="5486400"/>
          </a:xfrm>
          <a:prstGeom prst="ellipse">
            <a:avLst/>
          </a:prstGeom>
          <a:solidFill>
            <a:srgbClr val="FFB54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0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55480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12680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69880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0" y="1143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5480" y="1143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1143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12680" y="1143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0" y="1143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9880" y="1143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0" y="1371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55480" y="1371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84080" y="1371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12680" y="1371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0" y="1371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69880" y="1371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0" y="1600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55480" y="1600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0" y="1600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12680" y="1600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1280" y="1600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69880" y="1600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0" y="1828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55480" y="1828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84080" y="1828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12680" y="1828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41280" y="1828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69880" y="1828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26880" y="2057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55480" y="2057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84080" y="2057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12680" y="2057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41280" y="2057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69880" y="2057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26880" y="2286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55480" y="2286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84080" y="2286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12680" y="2286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41280" y="2286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469880" y="22860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26880" y="2514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55480" y="2514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84080" y="2514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12680" y="2514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41280" y="2514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69880" y="25146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326880" y="2743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55480" y="2743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784080" y="2743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12680" y="2743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241280" y="2743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469880" y="27432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326880" y="2971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555480" y="2971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784080" y="2971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12680" y="2971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241280" y="2971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469880" y="29718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48640" y="50292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77240" y="50292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05840" y="50292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234440" y="50292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48640" y="52578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77240" y="52578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05840" y="52578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234440" y="52578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48640" y="54864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77240" y="54864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05840" y="54864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234440" y="54864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48640" y="57150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77240" y="57150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5840" y="57150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34440" y="571500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97280" y="2011680"/>
            <a:ext cx="457200" cy="64008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645920" y="2011680"/>
            <a:ext cx="45720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194560" y="2011680"/>
            <a:ext cx="457200" cy="64008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97280" y="2377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E5C3"/>
                </a:solidFill>
                <a:latin typeface="Segoe UI"/>
              </a:defRPr>
            </a:pPr>
            <a:r>
              <a:t>PayScope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7280" y="3474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DF2F7"/>
                </a:solidFill>
                <a:latin typeface="Segoe UI"/>
              </a:defRPr>
            </a:pPr>
            <a:r>
              <a:t>Predict, explain, and compare data-science salaries.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728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5A8"/>
                </a:solidFill>
                <a:latin typeface="Segoe UI"/>
              </a:defRPr>
            </a:pPr>
            <a:r>
              <a:t>Yasser Hamdan   |   Week 1   |   AI Engineering Program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97280" y="5303520"/>
            <a:ext cx="1737360" cy="329184"/>
          </a:xfrm>
          <a:prstGeom prst="roundRect">
            <a:avLst>
              <a:gd name="adj" fmla="val 15000"/>
            </a:avLst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607 Records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108960" y="5303520"/>
            <a:ext cx="1737360" cy="329184"/>
          </a:xfrm>
          <a:prstGeom prst="roundRect">
            <a:avLst>
              <a:gd name="adj" fmla="val 15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7 Features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120640" y="5303520"/>
            <a:ext cx="1737360" cy="329184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Decision Tree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132320" y="5303520"/>
            <a:ext cx="1737360" cy="329184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Live API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800"/>
                                  <p:tgtEl>
                                    <p:spTgt spid="8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animEffect transition="in" filter="fade">
                                <p:cBhvr>
                                  <p:cTn id="15" dur="600"/>
                                  <p:tgtEl>
                                    <p:spTgt spid="8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animEffect transition="in" filter="fade">
                                <p:cBhvr>
                                  <p:cTn id="35" dur="400"/>
                                  <p:tgtEl>
                                    <p:spTgt spid="8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950"/>
                            </p:stCondLst>
                            <p:childTnLst>
                              <p:animEffect transition="in" filter="fade">
                                <p:cBhvr>
                                  <p:cTn id="45" dur="400"/>
                                  <p:tgtEl>
                                    <p:spTgt spid="8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1100"/>
                            </p:stCondLst>
                            <p:childTnLst>
                              <p:animEffect transition="in" filter="fade">
                                <p:cBhvr>
                                  <p:cTn id="55" dur="400"/>
                                  <p:tgtEl>
                                    <p:spTgt spid="9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1250"/>
                            </p:stCondLst>
                            <p:childTnLst>
                              <p:animEffect transition="in" filter="fade">
                                <p:cBhvr>
                                  <p:cTn id="65" dur="4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3383280"/>
            <a:ext cx="4572000" cy="4572000"/>
          </a:xfrm>
          <a:prstGeom prst="ellipse">
            <a:avLst/>
          </a:prstGeom>
          <a:solidFill>
            <a:srgbClr val="00E5C3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828800"/>
            <a:ext cx="2743200" cy="274320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926080" y="3017520"/>
            <a:ext cx="4023360" cy="4023360"/>
          </a:xfrm>
          <a:prstGeom prst="ellipse">
            <a:avLst/>
          </a:prstGeom>
          <a:solidFill>
            <a:srgbClr val="FF6B6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4572000"/>
            <a:ext cx="1828800" cy="1828800"/>
          </a:xfrm>
          <a:prstGeom prst="ellipse">
            <a:avLst/>
          </a:prstGeom>
          <a:solidFill>
            <a:srgbClr val="FFB54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645920" cy="329184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DF2F7"/>
                </a:solidFill>
                <a:latin typeface="Segoe UI"/>
              </a:defRPr>
            </a:pPr>
            <a:r>
              <a:t>Salary data is scattered, inconsistent, and hard to interpret.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B95A8"/>
                </a:solidFill>
                <a:latin typeface="Segoe UI"/>
              </a:defRPr>
            </a:pPr>
            <a:r>
              <a:t>Data professionals need a quick, reliable way to benchmark compensation.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71800"/>
            <a:ext cx="54864" cy="265176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154680"/>
            <a:ext cx="640080" cy="640080"/>
          </a:xfrm>
          <a:prstGeom prst="ellipse">
            <a:avLst/>
          </a:prstGeom>
          <a:solidFill>
            <a:srgbClr val="00E5C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54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E5C3"/>
                </a:solidFill>
                <a:latin typeface="Segoe UI"/>
              </a:defRPr>
            </a:pPr>
            <a:r>
              <a:t>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E5C3"/>
                </a:solidFill>
                <a:latin typeface="Segoe UI"/>
              </a:defRPr>
            </a:pPr>
            <a:r>
              <a:t>Job Seekers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891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8"/>
                </a:solidFill>
                <a:latin typeface="Segoe UI"/>
              </a:defRPr>
            </a:pPr>
            <a:r>
              <a:t>"What should I expect</a:t>
            </a:r>
            <a:br/>
            <a:r>
              <a:t>to earn in my next role?"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3464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971800"/>
            <a:ext cx="54864" cy="26517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3440" y="3154680"/>
            <a:ext cx="640080" cy="640080"/>
          </a:xfrm>
          <a:prstGeom prst="ellips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154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B547"/>
                </a:solidFill>
                <a:latin typeface="Segoe UI"/>
              </a:defRPr>
            </a:pPr>
            <a:r>
              <a:t>~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9319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B547"/>
                </a:solidFill>
                <a:latin typeface="Segoe UI"/>
              </a:defRPr>
            </a:pPr>
            <a:r>
              <a:t>Hiring Managers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891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8"/>
                </a:solidFill>
                <a:latin typeface="Segoe UI"/>
              </a:defRPr>
            </a:pPr>
            <a:r>
              <a:t>"Am I offering a competitive</a:t>
            </a:r>
            <a:br/>
            <a:r>
              <a:t>salary for this market?"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283464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80" y="2971800"/>
            <a:ext cx="54864" cy="2651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5320" y="3154680"/>
            <a:ext cx="640080" cy="640080"/>
          </a:xfrm>
          <a:prstGeom prst="ellipse">
            <a:avLst/>
          </a:prstGeom>
          <a:solidFill>
            <a:srgbClr val="FF6B6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154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9319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6B6B"/>
                </a:solidFill>
                <a:latin typeface="Segoe UI"/>
              </a:defRPr>
            </a:pPr>
            <a:r>
              <a:t>The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3891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8"/>
                </a:solidFill>
                <a:latin typeface="Segoe UI"/>
              </a:defRPr>
            </a:pPr>
            <a:r>
              <a:t>~607 real salary records</a:t>
            </a:r>
            <a:br/>
            <a:r>
              <a:t>from Kaggle DS Salaries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animEffect transition="in" filter="fade">
                                <p:cBhvr>
                                  <p:cTn id="1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13716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59568" y="13716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0736" y="13716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61904" y="13716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63072" y="13716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15727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59568" y="15727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60736" y="15727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61904" y="15727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63072" y="15727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0" y="17739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59568" y="17739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60736" y="17739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61904" y="17739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63072" y="17739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0" y="19751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59568" y="19751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60736" y="19751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61904" y="19751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63072" y="19751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21762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59568" y="21762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60736" y="21762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61904" y="21762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63072" y="21762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58400" y="23774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59568" y="23774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60736" y="23774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61904" y="23774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63072" y="23774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0" y="25786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59568" y="25786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60736" y="25786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61904" y="25786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63072" y="25786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0" y="27797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59568" y="27797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460736" y="27797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61904" y="27797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863072" y="27797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-3657600" y="-914400"/>
            <a:ext cx="5486400" cy="548640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1520" y="457200"/>
            <a:ext cx="1645920" cy="329184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One call does everything: predict &gt; explain &gt; persist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286000"/>
            <a:ext cx="1874519" cy="228600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359152"/>
            <a:ext cx="1691639" cy="41148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2606040"/>
            <a:ext cx="502920" cy="502920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24612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DF2F7"/>
                </a:solidFill>
                <a:latin typeface="Segoe UI"/>
              </a:defRPr>
            </a:pPr>
            <a:r>
              <a:t>CSV 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657600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607 salary</a:t>
            </a:r>
            <a:br/>
            <a:r>
              <a:t>records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68295" y="3154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E5C3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9191" y="2286000"/>
            <a:ext cx="1874519" cy="228600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70631" y="2359152"/>
            <a:ext cx="1691639" cy="41148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319271" y="2606040"/>
            <a:ext cx="502920" cy="50292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19271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70631" y="324612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DF2F7"/>
                </a:solidFill>
                <a:latin typeface="Segoe UI"/>
              </a:defRPr>
            </a:pPr>
            <a:r>
              <a:t>ML Model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70631" y="3657600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Decision Tree</a:t>
            </a:r>
            <a:br/>
            <a:r>
              <a:t>scikit-learn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90286" y="3154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B547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01182" y="2286000"/>
            <a:ext cx="1874519" cy="228600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92622" y="2359152"/>
            <a:ext cx="1691639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541262" y="260604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41262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92622" y="324612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DF2F7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92622" y="3657600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GET /predict</a:t>
            </a:r>
            <a:br/>
            <a:r>
              <a:t>+ Ollama LLM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2277" y="3154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123173" y="2286000"/>
            <a:ext cx="1874519" cy="228600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214613" y="2359152"/>
            <a:ext cx="1691639" cy="411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763253" y="260604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63253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14613" y="324612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DF2F7"/>
                </a:solidFill>
                <a:latin typeface="Segoe UI"/>
              </a:defRPr>
            </a:pPr>
            <a:r>
              <a:t>Supabase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14613" y="3657600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Persist every</a:t>
            </a:r>
            <a:br/>
            <a:r>
              <a:t>prediction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34268" y="3154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78BFA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45164" y="2286000"/>
            <a:ext cx="1874519" cy="228600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36604" y="2359152"/>
            <a:ext cx="1691639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985244" y="260604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85244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36604" y="324612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DF2F7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36604" y="3657600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Streamlit</a:t>
            </a:r>
            <a:br/>
            <a:r>
              <a:t>charts + story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286000" y="5029200"/>
            <a:ext cx="2011680" cy="329184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Railway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29200" y="5029200"/>
            <a:ext cx="2011680" cy="329184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Streamlit Cloud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772400" y="5029200"/>
            <a:ext cx="2011680" cy="329184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Supabase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15" dur="5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35" dur="500"/>
                                  <p:tgtEl>
                                    <p:spTgt spid="6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animEffect transition="in" filter="fade">
                                <p:cBhvr>
                                  <p:cTn id="45" dur="500"/>
                                  <p:tgtEl>
                                    <p:spTgt spid="7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3383280"/>
            <a:ext cx="4572000" cy="4572000"/>
          </a:xfrm>
          <a:prstGeom prst="ellipse">
            <a:avLst/>
          </a:prstGeom>
          <a:solidFill>
            <a:srgbClr val="00E5C3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828800"/>
            <a:ext cx="2743200" cy="274320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926080" y="3017520"/>
            <a:ext cx="4023360" cy="4023360"/>
          </a:xfrm>
          <a:prstGeom prst="ellipse">
            <a:avLst/>
          </a:prstGeom>
          <a:solidFill>
            <a:srgbClr val="FF6B6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4572000"/>
            <a:ext cx="1828800" cy="1828800"/>
          </a:xfrm>
          <a:prstGeom prst="ellipse">
            <a:avLst/>
          </a:prstGeom>
          <a:solidFill>
            <a:srgbClr val="FFB54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645920" cy="329184"/>
          </a:xfrm>
          <a:prstGeom prst="roundRect">
            <a:avLst>
              <a:gd name="adj" fmla="val 15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607 real salaries, 7 features, 1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76272"/>
            <a:ext cx="2011680" cy="36576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5C3"/>
                </a:solidFill>
                <a:latin typeface="Segoe UI"/>
              </a:defRPr>
            </a:pPr>
            <a:r>
              <a:t>607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Total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1031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2176272"/>
            <a:ext cx="201168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423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B547"/>
                </a:solidFill>
                <a:latin typeface="Segoe UI"/>
              </a:defRPr>
            </a:pPr>
            <a:r>
              <a:t>$101,570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Median salary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187952"/>
            <a:ext cx="201168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434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6B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Input features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411480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4187952"/>
            <a:ext cx="201168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4434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Segoe UI"/>
              </a:defRPr>
            </a:pPr>
            <a:r>
              <a:t>$112,297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Mean salary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852160" y="210312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585216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Median salary by experience level (from actual dataset)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15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25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35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45" dur="7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3200400"/>
            <a:ext cx="4572000" cy="4572000"/>
          </a:xfrm>
          <a:prstGeom prst="ellipse">
            <a:avLst/>
          </a:prstGeom>
          <a:solidFill>
            <a:srgbClr val="FFB54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0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" y="4572000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3856" y="4572000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35024" y="4572000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4773168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4773168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4773168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4773168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4974336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4974336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4974336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5024" y="4974336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5175504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5175504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3856" y="5175504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35024" y="5175504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"/>
            <a:ext cx="1645920" cy="329184"/>
          </a:xfrm>
          <a:prstGeom prst="roundRect">
            <a:avLst>
              <a:gd name="adj" fmla="val 15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THE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Decision Tree - interpretable and fast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10312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176272"/>
            <a:ext cx="5029200" cy="36576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2377440"/>
            <a:ext cx="502920" cy="502920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2377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OneHotEncoder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Converts categories to numbers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520439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593591"/>
            <a:ext cx="502920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3794759"/>
            <a:ext cx="502920" cy="50292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7947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DecisionTreeRegressor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160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max_depth=12, min_samples_leaf=4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93776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010912"/>
            <a:ext cx="50292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5840" y="52120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212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Joblib Artifact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One file, ready to deploy anywhere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103120"/>
            <a:ext cx="5212080" cy="425196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2176272"/>
            <a:ext cx="5212080" cy="36576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4CC16"/>
                </a:solidFill>
                <a:latin typeface="Segoe UI"/>
              </a:defRPr>
            </a:pPr>
            <a:r>
              <a:t>Why Decision Tree?</a:t>
            </a:r>
          </a:p>
        </p:txBody>
      </p:sp>
      <p:sp>
        <p:nvSpPr>
          <p:cNvPr id="42" name="Oval 41"/>
          <p:cNvSpPr/>
          <p:nvPr/>
        </p:nvSpPr>
        <p:spPr>
          <a:xfrm>
            <a:off x="6492240" y="2971800"/>
            <a:ext cx="228600" cy="228600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29718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A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926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DF2F7"/>
                </a:solidFill>
                <a:latin typeface="Segoe UI"/>
              </a:defRPr>
            </a:pPr>
            <a:r>
              <a:t>Interpretable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Every split is explainable to a non-technical audience</a:t>
            </a:r>
          </a:p>
        </p:txBody>
      </p:sp>
      <p:sp>
        <p:nvSpPr>
          <p:cNvPr id="46" name="Oval 45"/>
          <p:cNvSpPr/>
          <p:nvPr/>
        </p:nvSpPr>
        <p:spPr>
          <a:xfrm>
            <a:off x="6492240" y="3794760"/>
            <a:ext cx="228600" cy="22860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7947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A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DF2F7"/>
                </a:solidFill>
                <a:latin typeface="Segoe UI"/>
              </a:defRPr>
            </a:pPr>
            <a:r>
              <a:t>Handles mixed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Categorical + numerical features natively</a:t>
            </a:r>
          </a:p>
        </p:txBody>
      </p:sp>
      <p:sp>
        <p:nvSpPr>
          <p:cNvPr id="50" name="Oval 49"/>
          <p:cNvSpPr/>
          <p:nvPr/>
        </p:nvSpPr>
        <p:spPr>
          <a:xfrm>
            <a:off x="6492240" y="4617720"/>
            <a:ext cx="228600" cy="2286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6177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A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DF2F7"/>
                </a:solidFill>
                <a:latin typeface="Segoe UI"/>
              </a:defRPr>
            </a:pPr>
            <a:r>
              <a:t>Fast training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~600 records train in under a second</a:t>
            </a:r>
          </a:p>
        </p:txBody>
      </p:sp>
      <p:sp>
        <p:nvSpPr>
          <p:cNvPr id="54" name="Oval 53"/>
          <p:cNvSpPr/>
          <p:nvPr/>
        </p:nvSpPr>
        <p:spPr>
          <a:xfrm>
            <a:off x="6492240" y="544068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54406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A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DF2F7"/>
                </a:solidFill>
                <a:latin typeface="Segoe UI"/>
              </a:defRPr>
            </a:pPr>
            <a:r>
              <a:t>No black box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Perfect for a demo you need to defend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516636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5A8"/>
                </a:solidFill>
                <a:latin typeface="Segoe UI"/>
              </a:defRPr>
            </a:pPr>
            <a:r>
              <a:t>Model Metrics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5669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C3"/>
                </a:solidFill>
                <a:latin typeface="Segoe UI"/>
              </a:defRPr>
            </a:pPr>
            <a:r>
              <a:t>0.448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5989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8"/>
                </a:solidFill>
                <a:latin typeface="Segoe UI"/>
              </a:defRPr>
            </a:pPr>
            <a:r>
              <a:t>R²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5669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547"/>
                </a:solidFill>
                <a:latin typeface="Segoe UI"/>
              </a:defRPr>
            </a:pPr>
            <a:r>
              <a:t>$46,003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5989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8"/>
                </a:solidFill>
                <a:latin typeface="Segoe UI"/>
              </a:defRPr>
            </a:pPr>
            <a:r>
              <a:t>RMSE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5669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Segoe UI"/>
              </a:defRPr>
            </a:pPr>
            <a:r>
              <a:t>$32,197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5989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8"/>
                </a:solidFill>
                <a:latin typeface="Segoe UI"/>
              </a:defRPr>
            </a:pPr>
            <a:r>
              <a:t>MAE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animEffect transition="in" filter="fade">
                                <p:cBhvr>
                                  <p:cTn id="15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2743200"/>
            <a:ext cx="3657600" cy="3657600"/>
          </a:xfrm>
          <a:prstGeom prst="ellipse">
            <a:avLst/>
          </a:prstGeom>
          <a:solidFill>
            <a:srgbClr val="38BDF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0" y="-3200400"/>
            <a:ext cx="4572000" cy="4572000"/>
          </a:xfrm>
          <a:prstGeom prst="ellipse">
            <a:avLst/>
          </a:prstGeom>
          <a:solidFill>
            <a:srgbClr val="84CC1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1645920" cy="329184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TOP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Which job titles earn the most?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5A8"/>
                </a:solidFill>
                <a:latin typeface="Segoe UI"/>
              </a:defRPr>
            </a:pPr>
            <a:r>
              <a:t>Only roles with 8+ data points included for reliability.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377440"/>
          <a:ext cx="68580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46720" y="2377440"/>
            <a:ext cx="3474720" cy="114300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450592"/>
            <a:ext cx="54864" cy="10058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4CC16"/>
                </a:solidFill>
                <a:latin typeface="Segoe UI"/>
              </a:defRPr>
            </a:pPr>
            <a:r>
              <a:t>Data 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88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F2F7"/>
                </a:solidFill>
                <a:latin typeface="Segoe UI"/>
              </a:defRPr>
            </a:pPr>
            <a:r>
              <a:t>$180K median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0906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8"/>
                </a:solidFill>
                <a:latin typeface="Segoe UI"/>
              </a:defRPr>
            </a:pPr>
            <a:r>
              <a:t>Highest-paying role</a:t>
            </a:r>
            <a:br/>
            <a:r>
              <a:t>in the dataset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49039"/>
            <a:ext cx="3474720" cy="114300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822191"/>
            <a:ext cx="54864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88619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Data Scientist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1605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F2F7"/>
                </a:solidFill>
                <a:latin typeface="Segoe UI"/>
              </a:defRPr>
            </a:pPr>
            <a:r>
              <a:t>$103K median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6227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8"/>
                </a:solidFill>
                <a:latin typeface="Segoe UI"/>
              </a:defRPr>
            </a:pPr>
            <a:r>
              <a:t>143 records -</a:t>
            </a:r>
            <a:br/>
            <a:r>
              <a:t>most common role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5120640"/>
            <a:ext cx="3474720" cy="114300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5193792"/>
            <a:ext cx="54864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5257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2x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5532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F2F7"/>
                </a:solidFill>
                <a:latin typeface="Segoe UI"/>
              </a:defRPr>
            </a:pPr>
            <a:r>
              <a:t>Analyst vs Architect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833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8"/>
                </a:solidFill>
                <a:latin typeface="Segoe UI"/>
              </a:defRPr>
            </a:pPr>
            <a:r>
              <a:t>Title matters before</a:t>
            </a:r>
            <a:br/>
            <a:r>
              <a:t>we add experience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animEffect transition="in" filter="fade">
                                <p:cBhvr>
                                  <p:cTn id="25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1100"/>
                            </p:stCondLst>
                            <p:childTnLst>
                              <p:animEffect transition="in" filter="fade">
                                <p:cBhvr>
                                  <p:cTn id="35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3657600"/>
            <a:ext cx="5486400" cy="5486400"/>
          </a:xfrm>
          <a:prstGeom prst="ellipse">
            <a:avLst/>
          </a:prstGeom>
          <a:solidFill>
            <a:srgbClr val="FF6B6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3657600" cy="3657600"/>
          </a:xfrm>
          <a:prstGeom prst="ellipse">
            <a:avLst/>
          </a:prstGeom>
          <a:solidFill>
            <a:srgbClr val="00E5C3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1645920" cy="329184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WORK 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Remote work leads on median salary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28600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22860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2359152"/>
            <a:ext cx="54864" cy="96012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3"/>
                </a:solidFill>
                <a:latin typeface="Segoe UI"/>
              </a:defRPr>
            </a:pPr>
            <a:r>
              <a:t>381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63% of all data</a:t>
            </a:r>
            <a:br/>
            <a:r>
              <a:t>is fully remote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61188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0" y="3685032"/>
            <a:ext cx="54864" cy="96012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547"/>
                </a:solidFill>
                <a:latin typeface="Segoe UI"/>
              </a:defRPr>
            </a:pPr>
            <a:r>
              <a:t>$115,000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Remote workers earn</a:t>
            </a:r>
            <a:br/>
            <a:r>
              <a:t>16% above on-site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93776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89520" y="5010912"/>
            <a:ext cx="54864" cy="960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Hybrid lowest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5440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$70K median -</a:t>
            </a:r>
            <a:br/>
            <a:r>
              <a:t>smallest sample (99)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5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animEffect transition="in" filter="fade">
                                <p:cBhvr>
                                  <p:cTn id="25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1100"/>
                            </p:stCondLst>
                            <p:childTnLst>
                              <p:animEffect transition="in" filter="fade">
                                <p:cBhvr>
                                  <p:cTn id="35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3383280"/>
            <a:ext cx="4572000" cy="4572000"/>
          </a:xfrm>
          <a:prstGeom prst="ellipse">
            <a:avLst/>
          </a:prstGeom>
          <a:solidFill>
            <a:srgbClr val="00E5C3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828800"/>
            <a:ext cx="2743200" cy="274320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926080" y="3017520"/>
            <a:ext cx="4023360" cy="4023360"/>
          </a:xfrm>
          <a:prstGeom prst="ellipse">
            <a:avLst/>
          </a:prstGeom>
          <a:solidFill>
            <a:srgbClr val="FF6B6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4572000"/>
            <a:ext cx="1828800" cy="1828800"/>
          </a:xfrm>
          <a:prstGeom prst="ellipse">
            <a:avLst/>
          </a:prstGeom>
          <a:solidFill>
            <a:srgbClr val="FFB54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645920" cy="329184"/>
          </a:xfrm>
          <a:prstGeom prst="roundRect">
            <a:avLst>
              <a:gd name="adj" fmla="val 15000"/>
            </a:avLst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Let me show you PayScope in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76272"/>
            <a:ext cx="3108960" cy="36576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423160"/>
            <a:ext cx="502920" cy="502920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E1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KPI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346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Total records, median salary,</a:t>
            </a:r>
            <a:br/>
            <a:r>
              <a:t>top role,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0312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2176272"/>
            <a:ext cx="3108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0" y="2423160"/>
            <a:ext cx="502920" cy="50292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E1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Market 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8346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Distribution, experience,</a:t>
            </a:r>
            <a:br/>
            <a:r>
              <a:t>top roles, remote trends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210312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176272"/>
            <a:ext cx="310896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83880" y="242316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E1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Prediction 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8346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Fill the form, click Predict,</a:t>
            </a:r>
            <a:br/>
            <a:r>
              <a:t>get an instant 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34340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4416552"/>
            <a:ext cx="310896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0120" y="466344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E1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Peer 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074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How you compare to similar</a:t>
            </a:r>
            <a:br/>
            <a:r>
              <a:t>professionals in the 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434340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34840" y="4416552"/>
            <a:ext cx="31089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72000" y="466344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E1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AI Insight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7800" y="5074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LLM-generated narrative</a:t>
            </a:r>
            <a:br/>
            <a:r>
              <a:t>from the API via Ollama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80" y="434340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46720" y="4416552"/>
            <a:ext cx="3108960" cy="36576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83880" y="4663440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83880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E1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Prediction History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5074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Past predictions read</a:t>
            </a:r>
            <a:br/>
            <a:r>
              <a:t>back from Supabase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5C3"/>
                </a:solidFill>
                <a:latin typeface="Segoe UI"/>
              </a:defRPr>
            </a:pPr>
            <a:r>
              <a:t>&gt;&gt;  Switching to live dashboard now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15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25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35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animEffect transition="in" filter="fade">
                                <p:cBhvr>
                                  <p:cTn id="45" dur="4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55" dur="4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3200400"/>
            <a:ext cx="4572000" cy="4572000"/>
          </a:xfrm>
          <a:prstGeom prst="ellipse">
            <a:avLst/>
          </a:prstGeom>
          <a:solidFill>
            <a:srgbClr val="38BDF8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0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" y="4572000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3856" y="4572000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35024" y="4572000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4773168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4773168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4773168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4773168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4974336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4974336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4974336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5024" y="4974336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5175504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5175504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3856" y="5175504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35024" y="5175504"/>
            <a:ext cx="54864" cy="54864"/>
          </a:xfrm>
          <a:prstGeom prst="ellipse">
            <a:avLst/>
          </a:prstGeom>
          <a:solidFill>
            <a:srgbClr val="A78BF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"/>
            <a:ext cx="1645920" cy="329184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API +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GET /predict - one endpoint, full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10312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176272"/>
            <a:ext cx="52120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3317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38BDF8"/>
                </a:solidFill>
                <a:latin typeface="Segoe UI"/>
              </a:defRPr>
            </a:pPr>
            <a:r>
              <a:t>Request</a:t>
            </a:r>
          </a:p>
          <a:p>
            <a:pPr>
              <a:spcAft>
                <a:spcPts val="500"/>
              </a:spcAft>
              <a:defRPr sz="600" b="0">
                <a:solidFill>
                  <a:srgbClr val="8B95A8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EDF2F7"/>
                </a:solidFill>
                <a:latin typeface="Segoe UI"/>
              </a:defRPr>
            </a:pPr>
            <a:r>
              <a:t>GET /predict?experience_level=SE</a:t>
            </a:r>
          </a:p>
          <a:p>
            <a:pPr>
              <a:spcAft>
                <a:spcPts val="500"/>
              </a:spcAft>
              <a:defRPr sz="1300" b="0">
                <a:solidFill>
                  <a:srgbClr val="8B95A8"/>
                </a:solidFill>
                <a:latin typeface="Segoe UI"/>
              </a:defRPr>
            </a:pPr>
            <a:r>
              <a:t>  &amp;employment_type=FT</a:t>
            </a:r>
          </a:p>
          <a:p>
            <a:pPr>
              <a:spcAft>
                <a:spcPts val="500"/>
              </a:spcAft>
              <a:defRPr sz="1300" b="0">
                <a:solidFill>
                  <a:srgbClr val="8B95A8"/>
                </a:solidFill>
                <a:latin typeface="Segoe UI"/>
              </a:defRPr>
            </a:pPr>
            <a:r>
              <a:t>  &amp;job_title=Data Scientist</a:t>
            </a:r>
          </a:p>
          <a:p>
            <a:pPr>
              <a:spcAft>
                <a:spcPts val="500"/>
              </a:spcAft>
              <a:defRPr sz="1300" b="0">
                <a:solidFill>
                  <a:srgbClr val="8B95A8"/>
                </a:solidFill>
                <a:latin typeface="Segoe UI"/>
              </a:defRPr>
            </a:pPr>
            <a:r>
              <a:t>  &amp;employee_residence=US</a:t>
            </a:r>
          </a:p>
          <a:p>
            <a:pPr>
              <a:spcAft>
                <a:spcPts val="500"/>
              </a:spcAft>
              <a:defRPr sz="1300" b="0">
                <a:solidFill>
                  <a:srgbClr val="8B95A8"/>
                </a:solidFill>
                <a:latin typeface="Segoe UI"/>
              </a:defRPr>
            </a:pPr>
            <a:r>
              <a:t>  &amp;company_size=M&amp;remote_ratio=100</a:t>
            </a:r>
          </a:p>
          <a:p>
            <a:pPr>
              <a:spcAft>
                <a:spcPts val="500"/>
              </a:spcAft>
              <a:defRPr sz="800" b="0">
                <a:solidFill>
                  <a:srgbClr val="8B95A8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500" b="1">
                <a:solidFill>
                  <a:srgbClr val="EDF2F7"/>
                </a:solidFill>
                <a:latin typeface="Segoe UI"/>
              </a:defRPr>
            </a:pPr>
            <a:r>
              <a:t>Response includes:</a:t>
            </a:r>
          </a:p>
          <a:p>
            <a:pPr>
              <a:spcAft>
                <a:spcPts val="500"/>
              </a:spcAft>
              <a:defRPr sz="1300" b="0">
                <a:solidFill>
                  <a:srgbClr val="00E5C3"/>
                </a:solidFill>
                <a:latin typeface="Segoe UI"/>
              </a:defRPr>
            </a:pPr>
            <a:r>
              <a:t>  predicted_salary_usd</a:t>
            </a:r>
          </a:p>
          <a:p>
            <a:pPr>
              <a:spcAft>
                <a:spcPts val="500"/>
              </a:spcAft>
              <a:defRPr sz="1300" b="0">
                <a:solidFill>
                  <a:srgbClr val="FFB547"/>
                </a:solidFill>
                <a:latin typeface="Segoe UI"/>
              </a:defRPr>
            </a:pPr>
            <a:r>
              <a:t>  peer_context</a:t>
            </a:r>
          </a:p>
          <a:p>
            <a:pPr>
              <a:spcAft>
                <a:spcPts val="500"/>
              </a:spcAft>
              <a:defRPr sz="1300" b="0">
                <a:solidFill>
                  <a:srgbClr val="A78BFA"/>
                </a:solidFill>
                <a:latin typeface="Segoe UI"/>
              </a:defRPr>
            </a:pPr>
            <a:r>
              <a:t>  llm_analysis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103120"/>
            <a:ext cx="5120640" cy="420624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176272"/>
            <a:ext cx="512064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3317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6B6B"/>
                </a:solidFill>
                <a:latin typeface="Segoe UI"/>
              </a:defRPr>
            </a:pPr>
            <a:r>
              <a:t>Client Script</a:t>
            </a:r>
          </a:p>
          <a:p>
            <a:pPr>
              <a:spcAft>
                <a:spcPts val="500"/>
              </a:spcAft>
              <a:defRPr sz="600" b="0">
                <a:solidFill>
                  <a:srgbClr val="8B95A8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EDF2F7"/>
                </a:solidFill>
                <a:latin typeface="Segoe UI"/>
              </a:defRPr>
            </a:pPr>
            <a:r>
              <a:t>python predict_client.py</a:t>
            </a:r>
          </a:p>
          <a:p>
            <a:pPr>
              <a:spcAft>
                <a:spcPts val="500"/>
              </a:spcAft>
              <a:defRPr sz="1300" b="0">
                <a:solidFill>
                  <a:srgbClr val="8B95A8"/>
                </a:solidFill>
                <a:latin typeface="Segoe UI"/>
              </a:defRPr>
            </a:pPr>
            <a:r>
              <a:t>  --experience-level SE</a:t>
            </a:r>
          </a:p>
          <a:p>
            <a:pPr>
              <a:spcAft>
                <a:spcPts val="500"/>
              </a:spcAft>
              <a:defRPr sz="1300" b="0">
                <a:solidFill>
                  <a:srgbClr val="8B95A8"/>
                </a:solidFill>
                <a:latin typeface="Segoe UI"/>
              </a:defRPr>
            </a:pPr>
            <a:r>
              <a:t>  --job-title "Data Scientist"</a:t>
            </a:r>
          </a:p>
          <a:p>
            <a:pPr>
              <a:spcAft>
                <a:spcPts val="500"/>
              </a:spcAft>
              <a:defRPr sz="1300" b="0">
                <a:solidFill>
                  <a:srgbClr val="8B95A8"/>
                </a:solidFill>
                <a:latin typeface="Segoe UI"/>
              </a:defRPr>
            </a:pPr>
            <a:r>
              <a:t>  --remote-ratio 100</a:t>
            </a:r>
          </a:p>
          <a:p>
            <a:pPr>
              <a:spcAft>
                <a:spcPts val="500"/>
              </a:spcAft>
              <a:defRPr sz="1000" b="0">
                <a:solidFill>
                  <a:srgbClr val="8B95A8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500" b="1">
                <a:solidFill>
                  <a:srgbClr val="EDF2F7"/>
                </a:solidFill>
                <a:latin typeface="Segoe UI"/>
              </a:defRPr>
            </a:pPr>
            <a:r>
              <a:t>Error handling: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4892040"/>
            <a:ext cx="164592" cy="164592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DF2F7"/>
                </a:solidFill>
                <a:latin typeface="Segoe UI"/>
              </a:defRPr>
            </a:pPr>
            <a:r>
              <a:t>Timeout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0" y="5257800"/>
            <a:ext cx="164592" cy="16459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DF2F7"/>
                </a:solidFill>
                <a:latin typeface="Segoe UI"/>
              </a:defRPr>
            </a:pPr>
            <a:r>
              <a:t>Connection failure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562356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DF2F7"/>
                </a:solidFill>
                <a:latin typeface="Segoe UI"/>
              </a:defRPr>
            </a:pPr>
            <a:r>
              <a:t>HTTP errors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0" y="5989320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DF2F7"/>
                </a:solidFill>
                <a:latin typeface="Segoe UI"/>
              </a:defRPr>
            </a:pPr>
            <a:r>
              <a:t>Invalid JSON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15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3383280"/>
            <a:ext cx="4572000" cy="4572000"/>
          </a:xfrm>
          <a:prstGeom prst="ellipse">
            <a:avLst/>
          </a:prstGeom>
          <a:solidFill>
            <a:srgbClr val="00E5C3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828800"/>
            <a:ext cx="2743200" cy="274320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926080" y="3017520"/>
            <a:ext cx="4023360" cy="4023360"/>
          </a:xfrm>
          <a:prstGeom prst="ellipse">
            <a:avLst/>
          </a:prstGeom>
          <a:solidFill>
            <a:srgbClr val="FF6B6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4572000"/>
            <a:ext cx="1828800" cy="1828800"/>
          </a:xfrm>
          <a:prstGeom prst="ellipse">
            <a:avLst/>
          </a:prstGeom>
          <a:solidFill>
            <a:srgbClr val="FFB54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645920" cy="329184"/>
          </a:xfrm>
          <a:prstGeom prst="roundRect">
            <a:avLst>
              <a:gd name="adj" fmla="val 15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Key tradeoffs I made and 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515600" cy="128016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4864" cy="109728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423160"/>
            <a:ext cx="548640" cy="548640"/>
          </a:xfrm>
          <a:prstGeom prst="ellipse">
            <a:avLst/>
          </a:prstGeom>
          <a:solidFill>
            <a:srgbClr val="00E5C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5C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F2F7"/>
                </a:solidFill>
                <a:latin typeface="Segoe UI"/>
              </a:defRPr>
            </a:pPr>
            <a:r>
              <a:t>LLM lives in the API, not the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43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8"/>
                </a:solidFill>
                <a:latin typeface="Segoe UI"/>
              </a:defRPr>
            </a:pPr>
            <a:r>
              <a:t>Pipeline stays local: predict &gt; analyze &gt; persist in one call. Dashboard only reads.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79"/>
            <a:ext cx="10515600" cy="128016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03319"/>
            <a:ext cx="54864" cy="109728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3931919"/>
            <a:ext cx="548640" cy="548640"/>
          </a:xfrm>
          <a:prstGeom prst="ellipse">
            <a:avLst/>
          </a:prstGeom>
          <a:solidFill>
            <a:srgbClr val="FFB547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31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B54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947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F2F7"/>
                </a:solidFill>
                <a:latin typeface="Segoe UI"/>
              </a:defRPr>
            </a:pPr>
            <a:r>
              <a:t>Static data stays in CSV, not Supabase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5195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8"/>
                </a:solidFill>
                <a:latin typeface="Segoe UI"/>
              </a:defRPr>
            </a:pPr>
            <a:r>
              <a:t>600 unchanging records don't belong in a transactional database. Supabase stores dynamic data only.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10515600" cy="128016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212080"/>
            <a:ext cx="54864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1560" y="5440680"/>
            <a:ext cx="548640" cy="5486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440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6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F2F7"/>
                </a:solidFill>
                <a:latin typeface="Segoe UI"/>
              </a:defRPr>
            </a:pPr>
            <a:r>
              <a:t>Graceful degradation everywhere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760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8"/>
                </a:solidFill>
                <a:latin typeface="Segoe UI"/>
              </a:defRPr>
            </a:pPr>
            <a:r>
              <a:t>If Ollama or Supabase is unavailable, everything still works. No breaking, just a message.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animEffect transition="in" filter="fade">
                                <p:cBhvr>
                                  <p:cTn id="15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-6400800"/>
            <a:ext cx="9144000" cy="9144000"/>
          </a:xfrm>
          <a:prstGeom prst="ellipse">
            <a:avLst/>
          </a:prstGeom>
          <a:solidFill>
            <a:srgbClr val="00E5C3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0" y="-914400"/>
            <a:ext cx="7315200" cy="7315200"/>
          </a:xfrm>
          <a:prstGeom prst="ellipse">
            <a:avLst/>
          </a:prstGeom>
          <a:solidFill>
            <a:srgbClr val="FF6B6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1828800"/>
            <a:ext cx="5486400" cy="548640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-3200400"/>
            <a:ext cx="4572000" cy="4572000"/>
          </a:xfrm>
          <a:prstGeom prst="ellipse">
            <a:avLst/>
          </a:prstGeom>
          <a:solidFill>
            <a:srgbClr val="FFB54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DF8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0" y="9144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45168" y="9144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46336" y="9144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47504" y="9144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48672" y="9144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49840" y="9144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51008" y="91440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0" y="11155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45168" y="11155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46336" y="11155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47504" y="11155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48672" y="11155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0" y="11155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51008" y="111556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13167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45168" y="13167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46336" y="13167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47504" y="13167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8672" y="13167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9840" y="13167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51008" y="131673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5179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45168" y="15179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46336" y="15179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47504" y="15179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48672" y="15179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49840" y="15179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51008" y="151790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44000" y="17190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45168" y="17190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46336" y="17190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47504" y="17190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48672" y="17190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17190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51008" y="171907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44000" y="19202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45168" y="19202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546336" y="19202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747504" y="19202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48672" y="19202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149840" y="19202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51008" y="192024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44000" y="21214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45168" y="21214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546336" y="21214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47504" y="21214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48672" y="21214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149840" y="21214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51008" y="212140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144000" y="23225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345168" y="23225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46336" y="23225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747504" y="23225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948672" y="23225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149840" y="23225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351008" y="232257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144000" y="252374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345168" y="252374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46336" y="252374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747504" y="252374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948672" y="252374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149840" y="252374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351008" y="252374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144000" y="272491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45168" y="272491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546336" y="272491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47504" y="272491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948672" y="272491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49840" y="272491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351008" y="272491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144000" y="292608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345168" y="292608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546336" y="292608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47504" y="292608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948672" y="292608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49840" y="292608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351008" y="292608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144000" y="312724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345168" y="312724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546336" y="312724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47504" y="312724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948672" y="312724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149840" y="312724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351008" y="312724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57200" y="5029200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58368" y="5029200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59536" y="5029200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0704" y="5029200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261872" y="5029200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7200" y="5230368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58368" y="5230368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59536" y="5230368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60704" y="5230368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261872" y="5230368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57200" y="5431536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58368" y="5431536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59536" y="5431536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60704" y="5431536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261872" y="5431536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57200" y="5632704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58368" y="5632704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59536" y="5632704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60704" y="5632704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261872" y="5632704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57200" y="5833872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58368" y="5833872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59536" y="5833872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60704" y="5833872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261872" y="5833872"/>
            <a:ext cx="54864" cy="54864"/>
          </a:xfrm>
          <a:prstGeom prst="ellipse">
            <a:avLst/>
          </a:prstGeom>
          <a:solidFill>
            <a:srgbClr val="FF6B6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114800" y="2103120"/>
            <a:ext cx="822960" cy="64008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029200" y="2103120"/>
            <a:ext cx="82296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943600" y="2103120"/>
            <a:ext cx="822960" cy="64008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858000" y="2103120"/>
            <a:ext cx="82296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E5C3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DF2F7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95A8"/>
                </a:solidFill>
                <a:latin typeface="Segoe UI"/>
              </a:defRPr>
            </a:pPr>
            <a:r>
              <a:t>Yasser Hamdan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114800" y="5120640"/>
            <a:ext cx="3931920" cy="329184"/>
          </a:xfrm>
          <a:prstGeom prst="roundRect">
            <a:avLst>
              <a:gd name="adj" fmla="val 15000"/>
            </a:avLst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A0E1A"/>
                </a:solidFill>
                <a:latin typeface="Segoe UI"/>
              </a:defRPr>
            </a:pPr>
            <a:r>
              <a:t>Live Dashboard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8"/>
                </a:solidFill>
                <a:latin typeface="Segoe UI"/>
              </a:defRPr>
            </a:pPr>
            <a:r>
              <a:t>week1-projectsalaryprediction-yvatd83p7jyt97qqowjo3j.streamlit.app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800"/>
                                  <p:tgtEl>
                                    <p:spTgt spid="1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15" dur="600"/>
                                  <p:tgtEl>
                                    <p:spTgt spid="1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1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