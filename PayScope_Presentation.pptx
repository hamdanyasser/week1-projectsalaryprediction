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</c:v>
                </c:pt>
              </c:strCache>
            </c:strRef>
          </c:tx>
          <c:dPt>
            <c:idx val="0"/>
            <c:spPr>
              <a:solidFill>
                <a:srgbClr val="00E5C3"/>
              </a:solidFill>
            </c:spPr>
          </c:dPt>
          <c:dPt>
            <c:idx val="1"/>
            <c:spPr>
              <a:solidFill>
                <a:srgbClr val="38BDF8"/>
              </a:solidFill>
            </c:spPr>
          </c:dPt>
          <c:dPt>
            <c:idx val="2"/>
            <c:spPr>
              <a:solidFill>
                <a:srgbClr val="A78BFA"/>
              </a:solidFill>
            </c:spPr>
          </c:dPt>
          <c:dPt>
            <c:idx val="3"/>
            <c:spPr>
              <a:solidFill>
                <a:srgbClr val="FFB547"/>
              </a:solidFill>
            </c:spPr>
          </c:dPt>
          <c:dPt>
            <c:idx val="4"/>
            <c:spPr>
              <a:solidFill>
                <a:srgbClr val="FF6B6B"/>
              </a:solidFill>
            </c:spPr>
          </c:dPt>
          <c:cat>
            <c:strRef>
              <c:f>Sheet1!$A$2:$A$6</c:f>
              <c:strCache>
                <c:ptCount val="5"/>
                <c:pt idx="0">
                  <c:v>Data
Architect</c:v>
                </c:pt>
                <c:pt idx="1">
                  <c:v>ML
Engineer</c:v>
                </c:pt>
                <c:pt idx="2">
                  <c:v>Data
Scientist</c:v>
                </c:pt>
                <c:pt idx="3">
                  <c:v>Data
Engineer</c:v>
                </c:pt>
                <c:pt idx="4">
                  <c:v>Data
Analyst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172000</c:v>
                </c:pt>
                <c:pt idx="1">
                  <c:v>137000</c:v>
                </c:pt>
                <c:pt idx="2">
                  <c:v>128000</c:v>
                </c:pt>
                <c:pt idx="3">
                  <c:v>120000</c:v>
                </c:pt>
                <c:pt idx="4">
                  <c:v>96000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EDF2F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3657600"/>
            <a:ext cx="6400800" cy="6400800"/>
          </a:xfrm>
          <a:prstGeom prst="ellipse">
            <a:avLst/>
          </a:prstGeom>
          <a:solidFill>
            <a:srgbClr val="00E5C3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1280160"/>
            <a:ext cx="4023360" cy="4023360"/>
          </a:xfrm>
          <a:prstGeom prst="ellipse">
            <a:avLst/>
          </a:prstGeom>
          <a:solidFill>
            <a:srgbClr val="38BDF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474720" y="2011680"/>
            <a:ext cx="5486400" cy="5486400"/>
          </a:xfrm>
          <a:prstGeom prst="ellipse">
            <a:avLst/>
          </a:prstGeom>
          <a:solidFill>
            <a:srgbClr val="FF6B6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480560"/>
            <a:ext cx="2926080" cy="2926080"/>
          </a:xfrm>
          <a:prstGeom prst="ellipse">
            <a:avLst/>
          </a:prstGeom>
          <a:solidFill>
            <a:srgbClr val="FFB54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0" y="-3657600"/>
            <a:ext cx="4572000" cy="4572000"/>
          </a:xfrm>
          <a:prstGeom prst="ellipse">
            <a:avLst/>
          </a:prstGeom>
          <a:solidFill>
            <a:srgbClr val="A78BFA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0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94976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14432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33888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53344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0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92256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5520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94976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14432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33888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53344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0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92256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75520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94976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14432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33888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53344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72800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192256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75520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94976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14432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33888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53344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72800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192256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75520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094976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314432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33888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753344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972800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192256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75520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94976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14432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533888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753344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72800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92256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875520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094976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14432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533888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53344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972800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92256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875520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094976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14432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33888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753344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972800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192256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875520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094976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314432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533888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753344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972800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192256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875520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94976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314432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533888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753344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972800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192256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57200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58368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59536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60704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7200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58368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59536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060704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57200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8368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59536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60704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57200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8368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59536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60704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7200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58368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9536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060704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92640" y="457200"/>
            <a:ext cx="2103120" cy="265176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692640" y="457200"/>
            <a:ext cx="2103120" cy="109728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84080" y="6400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00E5C3"/>
                </a:solidFill>
                <a:latin typeface="Segoe UI"/>
              </a:defRPr>
            </a:pPr>
            <a:r>
              <a:t>SCAN  •  TRY IT LIVE</a:t>
            </a:r>
          </a:p>
        </p:txBody>
      </p:sp>
      <p:pic>
        <p:nvPicPr>
          <p:cNvPr id="100" name="Picture 99" descr="streamlit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960120"/>
            <a:ext cx="1645920" cy="164592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78408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8B95A8"/>
                </a:solidFill>
                <a:latin typeface="Segoe UI"/>
              </a:defRPr>
            </a:pPr>
            <a:r>
              <a:t>projectsalaryprediction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28803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8B95A8"/>
                </a:solidFill>
                <a:latin typeface="Segoe UI"/>
              </a:defRPr>
            </a:pPr>
            <a:r>
              <a:t>.streamlit.app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97280" y="1920240"/>
            <a:ext cx="457200" cy="73152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0" y="1920240"/>
            <a:ext cx="45720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194560" y="1920240"/>
            <a:ext cx="457200" cy="73152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743200" y="1920240"/>
            <a:ext cx="457200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91840" y="1920240"/>
            <a:ext cx="4572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097280" y="2103120"/>
            <a:ext cx="3200400" cy="402336"/>
          </a:xfrm>
          <a:prstGeom prst="roundRect">
            <a:avLst>
              <a:gd name="adj" fmla="val 50000"/>
            </a:avLst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PAYSCOPE  •  WEEK 1 PROJECT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97280" y="2606040"/>
            <a:ext cx="8503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400" b="1">
                <a:solidFill>
                  <a:srgbClr val="EDF2F7"/>
                </a:solidFill>
                <a:latin typeface="Segoe UI"/>
              </a:defRPr>
            </a:pPr>
            <a:r>
              <a:t>Predict. Explain. Compare.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" y="3794760"/>
            <a:ext cx="8503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0">
                <a:solidFill>
                  <a:srgbClr val="00E5C3"/>
                </a:solidFill>
                <a:latin typeface="Segoe UI"/>
              </a:defRPr>
            </a:pPr>
            <a:r>
              <a:t>A data-science salary intelligence platform.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7280" y="43434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8B95A8"/>
                </a:solidFill>
                <a:latin typeface="Segoe UI"/>
              </a:defRPr>
            </a:pPr>
            <a:r>
              <a:t>ML prediction  •  LLM-generated insight  •  Live analytics dashboard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8B95A8"/>
                </a:solidFill>
                <a:latin typeface="Segoe UI"/>
              </a:defRPr>
            </a:pPr>
            <a:r>
              <a:t>Yasser Hamdan     |     AI Engineering Program     |     2026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97280" y="521208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607  RECORDS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429000" y="521208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DECISION TREE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760720" y="521208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FASTAPI + LLM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092440" y="521208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SUPABASE LIVE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23" presetClass="entr" presetSubtype="0" fill="hold" grpId="0" nodeType="withEffect">
                            <p:stCondLst>
                              <p:cond delay="150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9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500"/>
                                  <p:tgtEl>
                                    <p:spTgt spid="10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300"/>
                            </p:stCondLst>
                            <p:childTnLst>
                              <p:animEffect transition="in" filter="fade">
                                <p:cBhvr>
                                  <p:cTn id="25" dur="700"/>
                                  <p:tgtEl>
                                    <p:spTgt spid="10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animEffect transition="in" filter="fade">
                                <p:cBhvr>
                                  <p:cTn id="35" dur="500"/>
                                  <p:tgtEl>
                                    <p:spTgt spid="1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animEffect transition="in" filter="fade">
                                <p:cBhvr>
                                  <p:cTn id="45" dur="500"/>
                                  <p:tgtEl>
                                    <p:spTgt spid="1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10" presetClass="entr" presetSubtype="0" fill="hold" grpId="0" nodeType="withEffect">
                            <p:stCondLst>
                              <p:cond delay="1200"/>
                            </p:stCondLst>
                            <p:childTnLst>
                              <p:animEffect transition="in" filter="fade">
                                <p:cBhvr>
                                  <p:cTn id="55" dur="400"/>
                                  <p:tgtEl>
                                    <p:spTgt spid="1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23" presetClass="entr" presetSubtype="0" fill="hold" grpId="0" nodeType="withEffect">
                            <p:stCondLst>
                              <p:cond delay="1400"/>
                            </p:stCondLst>
                            <p:childTnLst>
                              <p:animEffect transition="in" filter="fade">
                                <p:cBhvr>
                                  <p:cTn id="65" dur="400"/>
                                  <p:tgtEl>
                                    <p:spTgt spid="1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presetID="23" presetClass="entr" presetSubtype="0" fill="hold" grpId="0" nodeType="withEffect">
                            <p:stCondLst>
                              <p:cond delay="1550"/>
                            </p:stCondLst>
                            <p:childTnLst>
                              <p:animEffect transition="in" filter="fade">
                                <p:cBhvr>
                                  <p:cTn id="75" dur="400"/>
                                  <p:tgtEl>
                                    <p:spTgt spid="1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23" presetClass="entr" presetSubtype="0" fill="hold" grpId="0" nodeType="withEffect">
                            <p:stCondLst>
                              <p:cond delay="1700"/>
                            </p:stCondLst>
                            <p:childTnLst>
                              <p:animEffect transition="in" filter="fade">
                                <p:cBhvr>
                                  <p:cTn id="85" dur="400"/>
                                  <p:tgtEl>
                                    <p:spTgt spid="1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presetID="23" presetClass="entr" presetSubtype="0" fill="hold" grpId="0" nodeType="withEffect">
                            <p:stCondLst>
                              <p:cond delay="1850"/>
                            </p:stCondLst>
                            <p:childTnLst>
                              <p:animEffect transition="in" filter="fade">
                                <p:cBhvr>
                                  <p:cTn id="95" dur="400"/>
                                  <p:tgtEl>
                                    <p:spTgt spid="1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840480" y="-3200400"/>
            <a:ext cx="5486400" cy="5486400"/>
          </a:xfrm>
          <a:prstGeom prst="ellipse">
            <a:avLst/>
          </a:prstGeom>
          <a:solidFill>
            <a:srgbClr val="A78BF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3017520"/>
            <a:ext cx="4023360" cy="4023360"/>
          </a:xfrm>
          <a:prstGeom prst="ellipse">
            <a:avLst/>
          </a:prstGeom>
          <a:solidFill>
            <a:srgbClr val="FFB54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0976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52144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8640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9808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0976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2144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50292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THE GAP WE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10058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EDF2F7"/>
                </a:solidFill>
                <a:latin typeface="Segoe UI"/>
              </a:defRPr>
            </a:pPr>
            <a:r>
              <a:t>From messy spreadsheets to instant insight.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2194560"/>
            <a:ext cx="5303520" cy="420624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2194560"/>
            <a:ext cx="109728" cy="42062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23774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Segoe UI"/>
              </a:defRPr>
            </a:pPr>
            <a:r>
              <a:t>THE PAIN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274320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1">
                <a:solidFill>
                  <a:srgbClr val="EDF2F7"/>
                </a:solidFill>
                <a:latin typeface="Segoe UI"/>
              </a:defRPr>
            </a:pPr>
            <a:r>
              <a:t>Salary data is broken.</a:t>
            </a:r>
          </a:p>
        </p:txBody>
      </p:sp>
      <p:sp>
        <p:nvSpPr>
          <p:cNvPr id="30" name="Oval 29"/>
          <p:cNvSpPr/>
          <p:nvPr/>
        </p:nvSpPr>
        <p:spPr>
          <a:xfrm>
            <a:off x="1005840" y="3794760"/>
            <a:ext cx="256032" cy="256032"/>
          </a:xfrm>
          <a:prstGeom prst="ellipse">
            <a:avLst/>
          </a:prstGeom>
          <a:solidFill>
            <a:srgbClr val="FF6B6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36576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Segoe UI"/>
              </a:defRPr>
            </a:pPr>
            <a:r>
              <a:t>Scattered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950208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B95A8"/>
                </a:solidFill>
                <a:latin typeface="Segoe UI"/>
              </a:defRPr>
            </a:pPr>
            <a:r>
              <a:t>Numbers sit in forums,</a:t>
            </a:r>
            <a:br/>
            <a:r>
              <a:t>reports &amp; Glassdoor leaks.</a:t>
            </a:r>
          </a:p>
        </p:txBody>
      </p:sp>
      <p:sp>
        <p:nvSpPr>
          <p:cNvPr id="33" name="Oval 32"/>
          <p:cNvSpPr/>
          <p:nvPr/>
        </p:nvSpPr>
        <p:spPr>
          <a:xfrm>
            <a:off x="1005840" y="4663440"/>
            <a:ext cx="256032" cy="256032"/>
          </a:xfrm>
          <a:prstGeom prst="ellipse">
            <a:avLst/>
          </a:prstGeom>
          <a:solidFill>
            <a:srgbClr val="FF6B6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7320" y="45262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Segoe UI"/>
              </a:defRPr>
            </a:pPr>
            <a:r>
              <a:t>Outdated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4818888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B95A8"/>
                </a:solidFill>
                <a:latin typeface="Segoe UI"/>
              </a:defRPr>
            </a:pPr>
            <a:r>
              <a:t>Most benchmarks are</a:t>
            </a:r>
            <a:br/>
            <a:r>
              <a:t>months or years old.</a:t>
            </a:r>
          </a:p>
        </p:txBody>
      </p:sp>
      <p:sp>
        <p:nvSpPr>
          <p:cNvPr id="36" name="Oval 35"/>
          <p:cNvSpPr/>
          <p:nvPr/>
        </p:nvSpPr>
        <p:spPr>
          <a:xfrm>
            <a:off x="1005840" y="5532120"/>
            <a:ext cx="256032" cy="256032"/>
          </a:xfrm>
          <a:prstGeom prst="ellipse">
            <a:avLst/>
          </a:prstGeom>
          <a:solidFill>
            <a:srgbClr val="FF6B6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539496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Segoe UI"/>
              </a:defRPr>
            </a:pPr>
            <a:r>
              <a:t>No context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687568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B95A8"/>
                </a:solidFill>
                <a:latin typeface="Segoe UI"/>
              </a:defRPr>
            </a:pPr>
            <a:r>
              <a:t>A number alone</a:t>
            </a:r>
            <a:br/>
            <a:r>
              <a:t>doesn't explain anything.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3657600"/>
            <a:ext cx="731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0" b="1">
                <a:solidFill>
                  <a:srgbClr val="00E5C3"/>
                </a:solidFill>
                <a:latin typeface="Segoe UI"/>
              </a:defRPr>
            </a:pPr>
            <a:r>
              <a:t>»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66560" y="2194560"/>
            <a:ext cx="4663440" cy="420624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66560" y="2194560"/>
            <a:ext cx="109728" cy="4206240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2377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00E5C3"/>
                </a:solidFill>
                <a:latin typeface="Segoe UI"/>
              </a:defRPr>
            </a:pPr>
            <a:r>
              <a:t>PAYSCOPE ANSWERS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274320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1">
                <a:solidFill>
                  <a:srgbClr val="EDF2F7"/>
                </a:solidFill>
                <a:latin typeface="Segoe UI"/>
              </a:defRPr>
            </a:pPr>
            <a:r>
              <a:t>One click. One answer.</a:t>
            </a:r>
          </a:p>
        </p:txBody>
      </p:sp>
      <p:sp>
        <p:nvSpPr>
          <p:cNvPr id="49" name="Oval 48"/>
          <p:cNvSpPr/>
          <p:nvPr/>
        </p:nvSpPr>
        <p:spPr>
          <a:xfrm>
            <a:off x="7040880" y="3822192"/>
            <a:ext cx="201168" cy="201168"/>
          </a:xfrm>
          <a:prstGeom prst="ellipse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06640" y="365760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EDF2F7"/>
                </a:solidFill>
                <a:latin typeface="Segoe UI"/>
              </a:defRPr>
            </a:pPr>
            <a:r>
              <a:t>Instant ML forecast from a Decision Tree on 607 real records.</a:t>
            </a:r>
          </a:p>
        </p:txBody>
      </p:sp>
      <p:sp>
        <p:nvSpPr>
          <p:cNvPr id="56" name="Oval 55"/>
          <p:cNvSpPr/>
          <p:nvPr/>
        </p:nvSpPr>
        <p:spPr>
          <a:xfrm>
            <a:off x="7040880" y="4690872"/>
            <a:ext cx="201168" cy="20116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452628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EDF2F7"/>
                </a:solidFill>
                <a:latin typeface="Segoe UI"/>
              </a:defRPr>
            </a:pPr>
            <a:r>
              <a:t>LLM written insight that explains *why* the number is what it is.</a:t>
            </a:r>
          </a:p>
        </p:txBody>
      </p:sp>
      <p:sp>
        <p:nvSpPr>
          <p:cNvPr id="66" name="Oval 65"/>
          <p:cNvSpPr/>
          <p:nvPr/>
        </p:nvSpPr>
        <p:spPr>
          <a:xfrm>
            <a:off x="7040880" y="5559552"/>
            <a:ext cx="201168" cy="20116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06640" y="539496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EDF2F7"/>
                </a:solidFill>
                <a:latin typeface="Segoe UI"/>
              </a:defRPr>
            </a:pPr>
            <a:r>
              <a:t>Live dashboard of trends: remote, roles, experience, geography.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grpId="0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15" dur="6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400"/>
                            </p:stCondLst>
                            <p:childTnLst>
                              <p:animEffect transition="in" filter="fade">
                                <p:cBhvr>
                                  <p:cTn id="25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23" presetClass="entr" presetSubtype="0" fill="hold" grpId="0" nodeType="withEffect">
                            <p:stCondLst>
                              <p:cond delay="1000"/>
                            </p:stCondLst>
                            <p:childTnLst>
                              <p:animEffect transition="in" filter="fade">
                                <p:cBhvr>
                                  <p:cTn id="35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grpId="0" nodeType="withEffect">
                            <p:stCondLst>
                              <p:cond delay="1200"/>
                            </p:stCondLst>
                            <p:childTnLst>
                              <p:animEffect transition="in" filter="fade">
                                <p:cBhvr>
                                  <p:cTn id="45" dur="5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10" presetClass="entr" presetSubtype="0" fill="hold" grpId="0" nodeType="withEffect">
                            <p:stCondLst>
                              <p:cond delay="1400"/>
                            </p:stCondLst>
                            <p:childTnLst>
                              <p:animEffect transition="in" filter="fade">
                                <p:cBhvr>
                                  <p:cTn id="55" dur="40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10" presetClass="entr" presetSubtype="0" fill="hold" grpId="0" nodeType="withEffect">
                            <p:stCondLst>
                              <p:cond delay="1600"/>
                            </p:stCondLst>
                            <p:childTnLst>
                              <p:animEffect transition="in" filter="fade">
                                <p:cBhvr>
                                  <p:cTn id="65" dur="400"/>
                                  <p:tgtEl>
                                    <p:spTgt spid="5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presetID="10" presetClass="entr" presetSubtype="0" fill="hold" grpId="0" nodeType="withEffect">
                            <p:stCondLst>
                              <p:cond delay="1800"/>
                            </p:stCondLst>
                            <p:childTnLst>
                              <p:animEffect transition="in" filter="fade">
                                <p:cBhvr>
                                  <p:cTn id="75" dur="400"/>
                                  <p:tgtEl>
                                    <p:spTgt spid="6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2011680"/>
            <a:ext cx="4572000" cy="4572000"/>
          </a:xfrm>
          <a:prstGeom prst="ellipse">
            <a:avLst/>
          </a:prstGeom>
          <a:solidFill>
            <a:srgbClr val="00E5C3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3840480"/>
            <a:ext cx="3657600" cy="3657600"/>
          </a:xfrm>
          <a:prstGeom prst="ellipse">
            <a:avLst/>
          </a:prstGeom>
          <a:solidFill>
            <a:srgbClr val="A78B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99648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0816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01984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03152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98480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99648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00816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1984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03152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0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99648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0816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01984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03152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0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99648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00816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01984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03152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98480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99648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00816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301984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03152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698480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99648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00816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01984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503152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98480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899648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100816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01984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503152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" y="5029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ARCHITECTURE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1005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EDF2F7"/>
                </a:solidFill>
                <a:latin typeface="Segoe UI"/>
              </a:defRPr>
            </a:pPr>
            <a:r>
              <a:t>One request. Five systems. Zero friction.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8B95A8"/>
                </a:solidFill>
                <a:latin typeface="Segoe UI"/>
              </a:defRPr>
            </a:pPr>
            <a:r>
              <a:t>Data → model → API → persistence → dashboard. Tracked &amp; explainable.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" y="2624328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2560320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2560320"/>
            <a:ext cx="1965960" cy="146304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28529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00E5C3"/>
                </a:solidFill>
                <a:latin typeface="Segoe UI"/>
              </a:defRPr>
            </a:pPr>
            <a:r>
              <a:t>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306324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800" b="1">
                <a:solidFill>
                  <a:srgbClr val="00E5C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397764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EDF2F7"/>
                </a:solidFill>
                <a:latin typeface="Segoe UI"/>
              </a:defRPr>
            </a:pPr>
            <a:r>
              <a:t>CSV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434839"/>
            <a:ext cx="365760" cy="32004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452628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8B95A8"/>
                </a:solidFill>
                <a:latin typeface="Segoe UI"/>
              </a:defRPr>
            </a:pPr>
            <a:r>
              <a:t>ds_salaries.csv</a:t>
            </a:r>
            <a:br/>
            <a:r>
              <a:t>607 records, 11 cols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32888" y="374904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00E5C3"/>
                </a:solidFill>
                <a:latin typeface="Segoe UI"/>
              </a:defRPr>
            </a:pPr>
            <a:r>
              <a:t>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825496" y="2624328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761488" y="2560320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61488" y="2560320"/>
            <a:ext cx="1965960" cy="146304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90088" y="28529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FFB547"/>
                </a:solidFill>
                <a:latin typeface="Segoe UI"/>
              </a:defRPr>
            </a:pPr>
            <a:r>
              <a:t>ML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088" y="306324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800" b="1">
                <a:solidFill>
                  <a:srgbClr val="FFB54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90088" y="397764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EDF2F7"/>
                </a:solidFill>
                <a:latin typeface="Segoe UI"/>
              </a:defRPr>
            </a:pPr>
            <a:r>
              <a:t>MODEL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90088" y="4434839"/>
            <a:ext cx="365760" cy="32004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90088" y="452628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8B95A8"/>
                </a:solidFill>
                <a:latin typeface="Segoe UI"/>
              </a:defRPr>
            </a:pPr>
            <a:r>
              <a:t>Decision Tree</a:t>
            </a:r>
            <a:br/>
            <a:r>
              <a:t>scikit-learn pipeline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45736" y="374904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FFB547"/>
                </a:solidFill>
                <a:latin typeface="Segoe UI"/>
              </a:defRPr>
            </a:pPr>
            <a:r>
              <a:t>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8344" y="2624328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974336" y="2560320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74336" y="2560320"/>
            <a:ext cx="1965960" cy="14630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02936" y="28529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Segoe UI"/>
              </a:defRPr>
            </a:pPr>
            <a:r>
              <a:t>API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02936" y="306324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800" b="1">
                <a:solidFill>
                  <a:srgbClr val="FF6B6B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02936" y="397764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EDF2F7"/>
                </a:solidFill>
                <a:latin typeface="Segoe UI"/>
              </a:defRPr>
            </a:pPr>
            <a:r>
              <a:t>FASTAPI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202936" y="4434839"/>
            <a:ext cx="365760" cy="3200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02936" y="452628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8B95A8"/>
                </a:solidFill>
                <a:latin typeface="Segoe UI"/>
              </a:defRPr>
            </a:pPr>
            <a:r>
              <a:t>GET /predict</a:t>
            </a:r>
            <a:br/>
            <a:r>
              <a:t>+ Ollama LLM insight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74904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FF6B6B"/>
                </a:solidFill>
                <a:latin typeface="Segoe UI"/>
              </a:defRPr>
            </a:pPr>
            <a:r>
              <a:t>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51192" y="2624328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187184" y="2560320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187184" y="2560320"/>
            <a:ext cx="1965960" cy="1463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15784" y="28529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A78BFA"/>
                </a:solidFill>
                <a:latin typeface="Segoe UI"/>
              </a:defRPr>
            </a:pPr>
            <a:r>
              <a:t>DB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15784" y="306324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800" b="1">
                <a:solidFill>
                  <a:srgbClr val="A78BF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15784" y="397764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EDF2F7"/>
                </a:solidFill>
                <a:latin typeface="Segoe UI"/>
              </a:defRPr>
            </a:pPr>
            <a:r>
              <a:t>SUPABASE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415784" y="4434839"/>
            <a:ext cx="365760" cy="320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415784" y="452628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8B95A8"/>
                </a:solidFill>
                <a:latin typeface="Segoe UI"/>
              </a:defRPr>
            </a:pPr>
            <a:r>
              <a:t>salary_predictions</a:t>
            </a:r>
            <a:br/>
            <a:r>
              <a:t>every call persisted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71432" y="374904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A78BFA"/>
                </a:solidFill>
                <a:latin typeface="Segoe UI"/>
              </a:defRPr>
            </a:pPr>
            <a:r>
              <a:t>›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464040" y="2624328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400032" y="2560320"/>
            <a:ext cx="1965960" cy="2743200"/>
          </a:xfrm>
          <a:prstGeom prst="roundRect">
            <a:avLst>
              <a:gd name="adj" fmla="val 7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400032" y="2560320"/>
            <a:ext cx="1965960" cy="1463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628632" y="28529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Segoe UI"/>
              </a:defRPr>
            </a:pPr>
            <a:r>
              <a:t>UI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28632" y="306324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800" b="1">
                <a:solidFill>
                  <a:srgbClr val="38BDF8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28632" y="397764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EDF2F7"/>
                </a:solidFill>
                <a:latin typeface="Segoe UI"/>
              </a:defRPr>
            </a:pPr>
            <a:r>
              <a:t>STREAMLIT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628632" y="4434839"/>
            <a:ext cx="365760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628632" y="452628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8B95A8"/>
                </a:solidFill>
                <a:latin typeface="Segoe UI"/>
              </a:defRPr>
            </a:pPr>
            <a:r>
              <a:t>Plotly charts</a:t>
            </a:r>
            <a:br/>
            <a:r>
              <a:t>KPIs + stories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1520" y="59436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Local  •  Railway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520439" y="59436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Streamlit Cloud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09359" y="59436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Supabase Postgres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098280" y="59436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Ollama llama3.2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grpId="0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15" dur="6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400"/>
                            </p:stCondLst>
                            <p:childTnLst>
                              <p:animEffect transition="in" filter="fade">
                                <p:cBhvr>
                                  <p:cTn id="25" dur="40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animEffect transition="in" filter="fade">
                                <p:cBhvr>
                                  <p:cTn id="35" dur="50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grpId="0" nodeType="withEffect">
                            <p:stCondLst>
                              <p:cond delay="800"/>
                            </p:stCondLst>
                            <p:childTnLst>
                              <p:animEffect transition="in" filter="fade">
                                <p:cBhvr>
                                  <p:cTn id="45" dur="30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10" presetClass="entr" presetSubtype="0" fill="hold" grpId="0" nodeType="withEffect">
                            <p:stCondLst>
                              <p:cond delay="850"/>
                            </p:stCondLst>
                            <p:childTnLst>
                              <p:animEffect transition="in" filter="fade">
                                <p:cBhvr>
                                  <p:cTn id="55" dur="50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10" presetClass="entr" presetSubtype="0" fill="hold" grpId="0" nodeType="withEffect">
                            <p:stCondLst>
                              <p:cond delay="1050"/>
                            </p:stCondLst>
                            <p:childTnLst>
                              <p:animEffect transition="in" filter="fade">
                                <p:cBhvr>
                                  <p:cTn id="65" dur="300"/>
                                  <p:tgtEl>
                                    <p:spTgt spid="6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animEffect transition="in" filter="fade">
                                <p:cBhvr>
                                  <p:cTn id="75" dur="500"/>
                                  <p:tgtEl>
                                    <p:spTgt spid="6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10" presetClass="entr" presetSubtype="0" fill="hold" grpId="0" nodeType="withEffect">
                            <p:stCondLst>
                              <p:cond delay="1300"/>
                            </p:stCondLst>
                            <p:childTnLst>
                              <p:animEffect transition="in" filter="fade">
                                <p:cBhvr>
                                  <p:cTn id="85" dur="300"/>
                                  <p:tgtEl>
                                    <p:spTgt spid="8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animEffect transition="in" filter="fade">
                                <p:cBhvr>
                                  <p:cTn id="95" dur="500"/>
                                  <p:tgtEl>
                                    <p:spTgt spid="8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presetID="10" presetClass="entr" presetSubtype="0" fill="hold" grpId="0" nodeType="withEffect">
                            <p:stCondLst>
                              <p:cond delay="1550"/>
                            </p:stCondLst>
                            <p:childTnLst>
                              <p:animEffect transition="in" filter="fade">
                                <p:cBhvr>
                                  <p:cTn id="105" dur="300"/>
                                  <p:tgtEl>
                                    <p:spTgt spid="1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presetID="10" presetClass="entr" presetSubtype="0" fill="hold" grpId="0" nodeType="withEffect">
                            <p:stCondLst>
                              <p:cond delay="1600"/>
                            </p:stCondLst>
                            <p:childTnLst>
                              <p:animEffect transition="in" filter="fade">
                                <p:cBhvr>
                                  <p:cTn id="115" dur="500"/>
                                  <p:tgtEl>
                                    <p:spTgt spid="10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presetID="10" presetClass="entr" presetSubtype="0" fill="hold" grpId="0" nodeType="withEffect">
                            <p:stCondLst>
                              <p:cond delay="2000"/>
                            </p:stCondLst>
                            <p:childTnLst>
                              <p:animEffect transition="in" filter="fade">
                                <p:cBhvr>
                                  <p:cTn id="125" dur="300"/>
                                  <p:tgtEl>
                                    <p:spTgt spid="1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presetID="10" presetClass="entr" presetSubtype="0" fill="hold" grpId="0" nodeType="withEffect">
                            <p:stCondLst>
                              <p:cond delay="2100"/>
                            </p:stCondLst>
                            <p:childTnLst>
                              <p:animEffect transition="in" filter="fade">
                                <p:cBhvr>
                                  <p:cTn id="135" dur="300"/>
                                  <p:tgtEl>
                                    <p:spTgt spid="1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presetID="10" presetClass="entr" presetSubtype="0" fill="hold" grpId="0" nodeType="withEffect">
                            <p:stCondLst>
                              <p:cond delay="2200"/>
                            </p:stCondLst>
                            <p:childTnLst>
                              <p:animEffect transition="in" filter="fade">
                                <p:cBhvr>
                                  <p:cTn id="145" dur="300"/>
                                  <p:tgtEl>
                                    <p:spTgt spid="1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presetID="10" presetClass="entr" presetSubtype="0" fill="hold" grpId="0" nodeType="withEffect">
                            <p:stCondLst>
                              <p:cond delay="2300"/>
                            </p:stCondLst>
                            <p:childTnLst>
                              <p:animEffect transition="in" filter="fade">
                                <p:cBhvr>
                                  <p:cTn id="155" dur="300"/>
                                  <p:tgtEl>
                                    <p:spTgt spid="14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2011680"/>
            <a:ext cx="4572000" cy="4572000"/>
          </a:xfrm>
          <a:prstGeom prst="ellipse">
            <a:avLst/>
          </a:prstGeom>
          <a:solidFill>
            <a:srgbClr val="00E5C3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3840480"/>
            <a:ext cx="3657600" cy="3657600"/>
          </a:xfrm>
          <a:prstGeom prst="ellipse">
            <a:avLst/>
          </a:prstGeom>
          <a:solidFill>
            <a:srgbClr val="A78B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99648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0816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01984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03152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98480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99648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00816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1984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03152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0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99648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0816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01984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03152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0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99648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00816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01984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03152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98480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99648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00816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301984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03152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698480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99648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00816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01984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503152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98480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899648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100816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01984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503152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DATA  &amp; 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1005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EDF2F7"/>
                </a:solidFill>
                <a:latin typeface="Segoe UI"/>
              </a:defRPr>
            </a:pPr>
            <a:r>
              <a:t>Real data. Measurable accuracy.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210312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2103120"/>
            <a:ext cx="2606040" cy="91440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242316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400" b="1">
                <a:solidFill>
                  <a:srgbClr val="00E5C3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3337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8B95A8"/>
                </a:solidFill>
                <a:latin typeface="Segoe UI"/>
              </a:defRPr>
            </a:pPr>
            <a:r>
              <a:t>SALARY RECORDS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66160" y="210312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566160" y="2103120"/>
            <a:ext cx="2606040" cy="9144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94760" y="242316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400" b="1">
                <a:solidFill>
                  <a:srgbClr val="FFB54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4760" y="3337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8B95A8"/>
                </a:solidFill>
                <a:latin typeface="Segoe UI"/>
              </a:defRPr>
            </a:pPr>
            <a:r>
              <a:t>MEDIAN SALARY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416052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1520" y="4160520"/>
            <a:ext cx="2606040" cy="914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448056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400" b="1">
                <a:solidFill>
                  <a:srgbClr val="A78BFA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394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8B95A8"/>
                </a:solidFill>
                <a:latin typeface="Segoe UI"/>
              </a:defRPr>
            </a:pPr>
            <a:r>
              <a:t>FEATURE COLUMNS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66160" y="416052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66160" y="4160520"/>
            <a:ext cx="2606040" cy="914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94760" y="448056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400" b="1">
                <a:solidFill>
                  <a:srgbClr val="FF6B6B"/>
                </a:solidFill>
                <a:latin typeface="Segoe UI"/>
              </a:defRPr>
            </a:pPr>
            <a:r>
              <a:t>4 levels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94760" y="5394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8B95A8"/>
                </a:solidFill>
                <a:latin typeface="Segoe UI"/>
              </a:defRPr>
            </a:pPr>
            <a:r>
              <a:t>EXPERIENCE TIERS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92240" y="2103120"/>
            <a:ext cx="5120640" cy="388620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0840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0E5C3"/>
                </a:solidFill>
                <a:latin typeface="Segoe UI"/>
              </a:defRPr>
            </a:pPr>
            <a:r>
              <a:t>TOP 5 ROLES BY MEDIAN SALARY (USD)</a:t>
            </a:r>
          </a:p>
        </p:txBody>
      </p:sp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6629400" y="2606040"/>
          <a:ext cx="489204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6" name="Rounded Rectangle 75"/>
          <p:cNvSpPr/>
          <p:nvPr/>
        </p:nvSpPr>
        <p:spPr>
          <a:xfrm>
            <a:off x="731520" y="5943600"/>
            <a:ext cx="10881360" cy="594360"/>
          </a:xfrm>
          <a:prstGeom prst="roundRect">
            <a:avLst>
              <a:gd name="adj" fmla="val 50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400" y="60350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EDF2F7"/>
                </a:solidFill>
                <a:latin typeface="Segoe UI"/>
              </a:defRPr>
            </a:pPr>
            <a:r>
              <a:t>MODEL  ·  Decision Tree Regressor    |    Features: experience, role, remote %, location, company size    |    Trained on 80/20 split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grpId="0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15" dur="6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23" presetClass="entr" presetSubtype="0" fill="hold" grpId="0" nodeType="withEffect">
                            <p:stCondLst>
                              <p:cond delay="400"/>
                            </p:stCondLst>
                            <p:childTnLst>
                              <p:animEffect transition="in" filter="fade">
                                <p:cBhvr>
                                  <p:cTn id="25" dur="50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23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animEffect transition="in" filter="fade">
                                <p:cBhvr>
                                  <p:cTn id="35" dur="50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23" presetClass="entr" presetSubtype="0" fill="hold" grpId="0" nodeType="withEffect">
                            <p:stCondLst>
                              <p:cond delay="800"/>
                            </p:stCondLst>
                            <p:childTnLst>
                              <p:animEffect transition="in" filter="fade">
                                <p:cBhvr>
                                  <p:cTn id="45" dur="50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23" presetClass="entr" presetSubtype="0" fill="hold" grpId="0" nodeType="withEffect">
                            <p:stCondLst>
                              <p:cond delay="1000"/>
                            </p:stCondLst>
                            <p:childTnLst>
                              <p:animEffect transition="in" filter="fade">
                                <p:cBhvr>
                                  <p:cTn id="55" dur="500"/>
                                  <p:tgtEl>
                                    <p:spTgt spid="5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10" presetClass="entr" presetSubtype="0" fill="hold" grpId="0" nodeType="withEffect">
                            <p:stCondLst>
                              <p:cond delay="1000"/>
                            </p:stCondLst>
                            <p:childTnLst>
                              <p:animEffect transition="in" filter="fade">
                                <p:cBhvr>
                                  <p:cTn id="65" dur="500"/>
                                  <p:tgtEl>
                                    <p:spTgt spid="5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presetID="10" presetClass="entr" presetSubtype="0" fill="hold" grpId="0" nodeType="withEffect">
                            <p:stCondLst>
                              <p:cond delay="1300"/>
                            </p:stCondLst>
                            <p:childTnLst>
                              <p:animEffect transition="in" filter="fade">
                                <p:cBhvr>
                                  <p:cTn id="75" dur="600"/>
                                  <p:tgtEl>
                                    <p:spTgt spid="6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10" presetClass="entr" presetSubtype="0" fill="hold" grpId="0" nodeType="withEffect">
                            <p:stCondLst>
                              <p:cond delay="1500"/>
                            </p:stCondLst>
                            <p:childTnLst>
                              <p:animEffect transition="in" filter="fade">
                                <p:cBhvr>
                                  <p:cTn id="85" dur="400"/>
                                  <p:tgtEl>
                                    <p:spTgt spid="7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840480" y="-3200400"/>
            <a:ext cx="5486400" cy="5486400"/>
          </a:xfrm>
          <a:prstGeom prst="ellipse">
            <a:avLst/>
          </a:prstGeom>
          <a:solidFill>
            <a:srgbClr val="A78BF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3017520"/>
            <a:ext cx="4023360" cy="4023360"/>
          </a:xfrm>
          <a:prstGeom prst="ellipse">
            <a:avLst/>
          </a:prstGeom>
          <a:solidFill>
            <a:srgbClr val="FFB54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5303520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0976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52144" y="5504688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8640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5705856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5907024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9808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0976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2144" y="6108192"/>
            <a:ext cx="54864" cy="54864"/>
          </a:xfrm>
          <a:prstGeom prst="ellipse">
            <a:avLst/>
          </a:prstGeom>
          <a:solidFill>
            <a:srgbClr val="38BD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1005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EDF2F7"/>
                </a:solidFill>
                <a:latin typeface="Segoe UI"/>
              </a:defRPr>
            </a:pPr>
            <a:r>
              <a:t>What the user actually sees.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1965960"/>
            <a:ext cx="10332720" cy="4480560"/>
          </a:xfrm>
          <a:prstGeom prst="roundRect">
            <a:avLst>
              <a:gd name="adj" fmla="val 3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1965960"/>
            <a:ext cx="10332720" cy="365760"/>
          </a:xfrm>
          <a:prstGeom prst="rect">
            <a:avLst/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280" y="2057400"/>
            <a:ext cx="182880" cy="18288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25880" y="2057400"/>
            <a:ext cx="182880" cy="182880"/>
          </a:xfrm>
          <a:prstGeom prst="ellipse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54480" y="2057400"/>
            <a:ext cx="182880" cy="18288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03120" y="2011680"/>
            <a:ext cx="7772400" cy="25603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201168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8B95A8"/>
                </a:solidFill>
                <a:latin typeface="Segoe UI"/>
              </a:defRPr>
            </a:pPr>
            <a:r>
              <a:t>payscope.streamlit.app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88720" y="2514600"/>
            <a:ext cx="9784080" cy="1097280"/>
          </a:xfrm>
          <a:prstGeom prst="roundRect">
            <a:avLst>
              <a:gd name="adj" fmla="val 4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17320" y="2816352"/>
            <a:ext cx="182880" cy="182880"/>
          </a:xfrm>
          <a:prstGeom prst="ellipse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00E5C3"/>
                </a:solidFill>
                <a:latin typeface="Segoe UI"/>
              </a:defRPr>
            </a:pPr>
            <a:r>
              <a:t>PAYSCOPE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2971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EDF2F7"/>
                </a:solidFill>
                <a:latin typeface="Segoe UI"/>
              </a:defRPr>
            </a:pPr>
            <a:r>
              <a:t>Understand the salary story behind the numbers.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88720" y="3749039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88720" y="3749039"/>
            <a:ext cx="2286000" cy="64008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0" y="38587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00E5C3"/>
                </a:solidFill>
                <a:latin typeface="Segoe UI"/>
              </a:defRPr>
            </a:pPr>
            <a:r>
              <a:t>$101,570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43434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B95A8"/>
                </a:solidFill>
                <a:latin typeface="Segoe UI"/>
              </a:defRPr>
            </a:pPr>
            <a:r>
              <a:t>MEDIAN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0" y="3749039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57600" y="3749039"/>
            <a:ext cx="2286000" cy="64008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38587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FFB547"/>
                </a:solidFill>
                <a:latin typeface="Segoe UI"/>
              </a:defRPr>
            </a:pPr>
            <a:r>
              <a:t>$142,200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43434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B95A8"/>
                </a:solidFill>
                <a:latin typeface="Segoe UI"/>
              </a:defRPr>
            </a:pPr>
            <a:r>
              <a:t>AVG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26480" y="3749039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26480" y="3749039"/>
            <a:ext cx="228600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38587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43434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B95A8"/>
                </a:solidFill>
                <a:latin typeface="Segoe UI"/>
              </a:defRPr>
            </a:pPr>
            <a:r>
              <a:t>RECORDS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595360" y="3749039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595360" y="3749039"/>
            <a:ext cx="228600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778240" y="38587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78240" y="43434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B95A8"/>
                </a:solidFill>
                <a:latin typeface="Segoe UI"/>
              </a:defRPr>
            </a:pPr>
            <a:r>
              <a:t>REMOTE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88720" y="493776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188720" y="4937760"/>
            <a:ext cx="73152" cy="1371600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0" y="5029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0E5C3"/>
                </a:solidFill>
                <a:latin typeface="Segoe UI"/>
              </a:defRPr>
            </a:pPr>
            <a:r>
              <a:t>PREDICTED SALARY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71600" y="525780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400" b="1">
                <a:solidFill>
                  <a:srgbClr val="00E5C3"/>
                </a:solidFill>
                <a:latin typeface="Consolas"/>
              </a:defRPr>
            </a:pPr>
            <a:r>
              <a:t>$119,500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71600" y="5852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B95A8"/>
                </a:solidFill>
                <a:latin typeface="Segoe UI"/>
              </a:defRPr>
            </a:pPr>
            <a:r>
              <a:t>Senior  ·  ML Engineer  ·  50% remote  ·  US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26480" y="493776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26480" y="4937760"/>
            <a:ext cx="73152" cy="13716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60" y="5029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Segoe UI"/>
              </a:defRPr>
            </a:pPr>
            <a:r>
              <a:t>LLM INSIGHT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60" y="5257800"/>
            <a:ext cx="4663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EDF2F7"/>
                </a:solidFill>
                <a:latin typeface="Segoe UI"/>
              </a:defRPr>
            </a:pPr>
            <a:r>
              <a:t>"This is ~18% above the median. Senior ML</a:t>
            </a:r>
            <a:br/>
            <a:r>
              <a:t>talent with hybrid flexibility commands</a:t>
            </a:r>
            <a:br/>
            <a:r>
              <a:t>a premium in the US tech market."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grpId="0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1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400"/>
                            </p:stCondLst>
                            <p:childTnLst>
                              <p:animEffect transition="in" filter="fade">
                                <p:cBhvr>
                                  <p:cTn id="25" dur="6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animEffect transition="in" filter="fade">
                                <p:cBhvr>
                                  <p:cTn id="35" dur="4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23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animEffect transition="in" filter="fade">
                                <p:cBhvr>
                                  <p:cTn id="45" dur="4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23" presetClass="entr" presetSubtype="0" fill="hold" grpId="0" nodeType="withEffect">
                            <p:stCondLst>
                              <p:cond delay="1050"/>
                            </p:stCondLst>
                            <p:childTnLst>
                              <p:animEffect transition="in" filter="fade">
                                <p:cBhvr>
                                  <p:cTn id="55" dur="40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23" presetClass="entr" presetSubtype="0" fill="hold" grpId="0" nodeType="withEffect">
                            <p:stCondLst>
                              <p:cond delay="1200"/>
                            </p:stCondLst>
                            <p:childTnLst>
                              <p:animEffect transition="in" filter="fade">
                                <p:cBhvr>
                                  <p:cTn id="65" dur="400"/>
                                  <p:tgtEl>
                                    <p:spTgt spid="5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presetID="23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animEffect transition="in" filter="fade">
                                <p:cBhvr>
                                  <p:cTn id="75" dur="400"/>
                                  <p:tgtEl>
                                    <p:spTgt spid="6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23" presetClass="entr" presetSubtype="0" fill="hold" grpId="0" nodeType="withEffect">
                            <p:stCondLst>
                              <p:cond delay="1400"/>
                            </p:stCondLst>
                            <p:childTnLst>
                              <p:animEffect transition="in" filter="fade">
                                <p:cBhvr>
                                  <p:cTn id="85" dur="500"/>
                                  <p:tgtEl>
                                    <p:spTgt spid="7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presetID="23" presetClass="entr" presetSubtype="0" fill="hold" grpId="0" nodeType="withEffect">
                            <p:stCondLst>
                              <p:cond delay="1600"/>
                            </p:stCondLst>
                            <p:childTnLst>
                              <p:animEffect transition="in" filter="fade">
                                <p:cBhvr>
                                  <p:cTn id="95" dur="500"/>
                                  <p:tgtEl>
                                    <p:spTgt spid="9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2011680"/>
            <a:ext cx="4572000" cy="4572000"/>
          </a:xfrm>
          <a:prstGeom prst="ellipse">
            <a:avLst/>
          </a:prstGeom>
          <a:solidFill>
            <a:srgbClr val="00E5C3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3840480"/>
            <a:ext cx="3657600" cy="3657600"/>
          </a:xfrm>
          <a:prstGeom prst="ellipse">
            <a:avLst/>
          </a:prstGeom>
          <a:solidFill>
            <a:srgbClr val="A78B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99648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0816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01984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03152" y="118872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98480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99648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00816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1984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03152" y="138988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0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99648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0816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01984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03152" y="1591056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0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99648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00816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01984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03152" y="1792224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98480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99648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00816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301984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03152" y="1993392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698480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99648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00816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01984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503152" y="2194560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98480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899648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100816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01984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503152" y="2395728"/>
            <a:ext cx="54864" cy="54864"/>
          </a:xfrm>
          <a:prstGeom prst="ellipse">
            <a:avLst/>
          </a:prstGeom>
          <a:solidFill>
            <a:srgbClr val="00E5C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" y="5029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KEY DECISIONS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1005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EDF2F7"/>
                </a:solidFill>
                <a:latin typeface="Segoe UI"/>
              </a:defRPr>
            </a:pPr>
            <a:r>
              <a:t>Why I built it this way.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" y="2267712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219456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2194560"/>
            <a:ext cx="3611880" cy="128016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256032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200" b="1">
                <a:solidFill>
                  <a:srgbClr val="00E5C3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45" name="Oval 44"/>
          <p:cNvSpPr/>
          <p:nvPr/>
        </p:nvSpPr>
        <p:spPr>
          <a:xfrm>
            <a:off x="3246120" y="265176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29000" y="265176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11880" y="265176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4760" y="265176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246120" y="283464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29000" y="283464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11880" y="283464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94760" y="283464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246120" y="301752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29000" y="301752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11880" y="301752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94760" y="301752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246120" y="3200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429000" y="3200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611880" y="3200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794760" y="3200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" y="379476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EDF2F7"/>
                </a:solidFill>
                <a:latin typeface="Segoe UI"/>
              </a:defRPr>
            </a:pPr>
            <a:r>
              <a:t>Decision Tree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" y="4343400"/>
            <a:ext cx="548640" cy="36576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" y="4526280"/>
            <a:ext cx="3246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8B95A8"/>
                </a:solidFill>
                <a:latin typeface="Segoe UI"/>
              </a:defRPr>
            </a:pPr>
            <a:r>
              <a:t>Interpretable, fast, handles mixed</a:t>
            </a:r>
            <a:br/>
            <a:r>
              <a:t>data types without heavy tuning.</a:t>
            </a:r>
            <a:br/>
            <a:r>
              <a:t>Perfect for a Week-1 MVP.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99432" y="2267712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526280" y="219456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26280" y="2194560"/>
            <a:ext cx="3611880" cy="12801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846320" y="256032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200" b="1">
                <a:solidFill>
                  <a:srgbClr val="A78BFA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68" name="Oval 67"/>
          <p:cNvSpPr/>
          <p:nvPr/>
        </p:nvSpPr>
        <p:spPr>
          <a:xfrm>
            <a:off x="7040880" y="265176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223760" y="265176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06640" y="265176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589520" y="265176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040880" y="283464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223760" y="283464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06640" y="283464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89520" y="283464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40880" y="301752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23760" y="301752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406640" y="301752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589520" y="301752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40880" y="320040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223760" y="320040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06640" y="320040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89520" y="3200400"/>
            <a:ext cx="54864" cy="54864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46320" y="379476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EDF2F7"/>
                </a:solidFill>
                <a:latin typeface="Segoe UI"/>
              </a:defRPr>
            </a:pPr>
            <a:r>
              <a:t>Ollama LLM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46320" y="4343400"/>
            <a:ext cx="54864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846320" y="4526280"/>
            <a:ext cx="3246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8B95A8"/>
                </a:solidFill>
                <a:latin typeface="Segoe UI"/>
              </a:defRPr>
            </a:pPr>
            <a:r>
              <a:t>Runs 100% locally — no API keys,</a:t>
            </a:r>
            <a:br/>
            <a:r>
              <a:t>no cloud bills, no PII leaks.</a:t>
            </a:r>
            <a:br/>
            <a:r>
              <a:t>llama3.2 turns numbers into stories.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94192" y="2267712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321040" y="219456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12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321040" y="2194560"/>
            <a:ext cx="3611880" cy="1280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256032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200" b="1">
                <a:solidFill>
                  <a:srgbClr val="38BDF8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91" name="Oval 90"/>
          <p:cNvSpPr/>
          <p:nvPr/>
        </p:nvSpPr>
        <p:spPr>
          <a:xfrm>
            <a:off x="10835640" y="265176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018520" y="265176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201400" y="265176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384280" y="265176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835640" y="283464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018520" y="283464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01400" y="283464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384280" y="283464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835640" y="301752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018520" y="301752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201400" y="301752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84280" y="301752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835640" y="320040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018520" y="320040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201400" y="320040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84280" y="3200400"/>
            <a:ext cx="54864" cy="54864"/>
          </a:xfrm>
          <a:prstGeom prst="ellipse">
            <a:avLst/>
          </a:prstGeom>
          <a:solidFill>
            <a:srgbClr val="38BDF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641080" y="379476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EDF2F7"/>
                </a:solidFill>
                <a:latin typeface="Segoe UI"/>
              </a:defRPr>
            </a:pPr>
            <a:r>
              <a:t>Supabase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41080" y="4343400"/>
            <a:ext cx="5486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641080" y="4526280"/>
            <a:ext cx="3246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8B95A8"/>
                </a:solidFill>
                <a:latin typeface="Segoe UI"/>
              </a:defRPr>
            </a:pPr>
            <a:r>
              <a:t>Every prediction gets logged.</a:t>
            </a:r>
            <a:br/>
            <a:r>
              <a:t>Free-tier Postgres + instant REST.</a:t>
            </a:r>
            <a:br/>
            <a:r>
              <a:t>Future me can retrain on real usage.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31520" y="6126480"/>
            <a:ext cx="10744200" cy="502920"/>
          </a:xfrm>
          <a:prstGeom prst="roundRect">
            <a:avLst>
              <a:gd name="adj" fmla="val 50000"/>
            </a:avLst>
          </a:prstGeom>
          <a:solidFill>
            <a:srgbClr val="1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6190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00E5C3"/>
                </a:solidFill>
                <a:latin typeface="Segoe UI"/>
              </a:defRPr>
            </a:pPr>
            <a:r>
              <a:t>LESSON LEARNED  ·  Ship simple, ship explainable, ship measurable.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grpId="0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15" dur="6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400"/>
                            </p:stCondLst>
                            <p:childTnLst>
                              <p:animEffect transition="in" filter="fade">
                                <p:cBhvr>
                                  <p:cTn id="25" dur="60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animEffect transition="in" filter="fade">
                                <p:cBhvr>
                                  <p:cTn id="35" dur="600"/>
                                  <p:tgtEl>
                                    <p:spTgt spid="6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grpId="0" nodeType="withEffect">
                            <p:stCondLst>
                              <p:cond delay="1000"/>
                            </p:stCondLst>
                            <p:childTnLst>
                              <p:animEffect transition="in" filter="fade">
                                <p:cBhvr>
                                  <p:cTn id="45" dur="600"/>
                                  <p:tgtEl>
                                    <p:spTgt spid="8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10" presetClass="entr" presetSubtype="0" fill="hold" grpId="0" nodeType="withEffect">
                            <p:stCondLst>
                              <p:cond delay="1500"/>
                            </p:stCondLst>
                            <p:childTnLst>
                              <p:animEffect transition="in" filter="fade">
                                <p:cBhvr>
                                  <p:cTn id="55" dur="400"/>
                                  <p:tgtEl>
                                    <p:spTgt spid="1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3657600"/>
            <a:ext cx="6400800" cy="6400800"/>
          </a:xfrm>
          <a:prstGeom prst="ellipse">
            <a:avLst/>
          </a:prstGeom>
          <a:solidFill>
            <a:srgbClr val="00E5C3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1280160"/>
            <a:ext cx="4023360" cy="4023360"/>
          </a:xfrm>
          <a:prstGeom prst="ellipse">
            <a:avLst/>
          </a:prstGeom>
          <a:solidFill>
            <a:srgbClr val="38BDF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474720" y="2011680"/>
            <a:ext cx="5486400" cy="5486400"/>
          </a:xfrm>
          <a:prstGeom prst="ellipse">
            <a:avLst/>
          </a:prstGeom>
          <a:solidFill>
            <a:srgbClr val="FF6B6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480560"/>
            <a:ext cx="2926080" cy="2926080"/>
          </a:xfrm>
          <a:prstGeom prst="ellipse">
            <a:avLst/>
          </a:prstGeom>
          <a:solidFill>
            <a:srgbClr val="FFB54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0" y="-3657600"/>
            <a:ext cx="4572000" cy="4572000"/>
          </a:xfrm>
          <a:prstGeom prst="ellipse">
            <a:avLst/>
          </a:prstGeom>
          <a:solidFill>
            <a:srgbClr val="A78BFA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0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94976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14432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33888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53344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0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92256" y="91440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5520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94976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14432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33888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53344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0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92256" y="113385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75520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94976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14432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33888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53344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72800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192256" y="135331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75520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94976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14432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33888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53344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72800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192256" y="157276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75520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094976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314432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33888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753344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972800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192256" y="179222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75520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94976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14432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533888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753344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72800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92256" y="2011680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875520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094976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14432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533888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53344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972800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92256" y="2231136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875520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094976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14432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33888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753344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972800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192256" y="2450592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875520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094976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314432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533888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753344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972800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192256" y="2670048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875520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94976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314432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533888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753344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972800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192256" y="2889504"/>
            <a:ext cx="54864" cy="54864"/>
          </a:xfrm>
          <a:prstGeom prst="ellipse">
            <a:avLst/>
          </a:prstGeom>
          <a:solidFill>
            <a:srgbClr val="00E5C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57200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58368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59536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60704" y="5303520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7200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58368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59536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060704" y="5504688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57200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8368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59536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60704" y="5705856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57200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8368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59536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60704" y="5907024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7200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58368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9536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060704" y="6108192"/>
            <a:ext cx="54864" cy="54864"/>
          </a:xfrm>
          <a:prstGeom prst="ellipse">
            <a:avLst/>
          </a:prstGeom>
          <a:solidFill>
            <a:srgbClr val="FF6B6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937760" y="1828800"/>
            <a:ext cx="457200" cy="73152"/>
          </a:xfrm>
          <a:prstGeom prst="rect">
            <a:avLst/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86400" y="1828800"/>
            <a:ext cx="45720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35040" y="1828800"/>
            <a:ext cx="457200" cy="73152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83680" y="1828800"/>
            <a:ext cx="457200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32320" y="1828800"/>
            <a:ext cx="4572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029200" y="205740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THE END  •  LET'S TALK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400" b="1">
                <a:solidFill>
                  <a:srgbClr val="00E5C3"/>
                </a:solidFill>
                <a:latin typeface="Segoe UI"/>
              </a:defRPr>
            </a:pPr>
            <a:r>
              <a:t>Thank you.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728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0">
                <a:solidFill>
                  <a:srgbClr val="EDF2F7"/>
                </a:solidFill>
                <a:latin typeface="Segoe UI"/>
              </a:defRPr>
            </a:pPr>
            <a:r>
              <a:t>Questions, comments, roasts — all welcome.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7280" y="4709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0">
                <a:solidFill>
                  <a:srgbClr val="8B95A8"/>
                </a:solidFill>
                <a:latin typeface="Segoe UI"/>
              </a:defRPr>
            </a:pPr>
            <a:r>
              <a:t>Yasser Hamdan  ·  AI Engineering Program  ·  Week 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463040" y="557784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00E5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GITHUB REPO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840480" y="557784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LIVE DASHBOARD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217920" y="557784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FASTAPI DOCS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95360" y="557784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ctr">
              <a:defRPr sz="1100" b="1">
                <a:solidFill>
                  <a:srgbClr val="0A0E1A"/>
                </a:solidFill>
                <a:latin typeface="Segoe UI"/>
              </a:defRPr>
            </a:pPr>
            <a:r>
              <a:t>DEMO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>
                          <p:tgtEl>
                            <p:sldTgt/>
                          </p:tgtEl>
                        </p:cond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1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23" presetClass="entr" presetSubtype="0" fill="hold" grpId="0" nodeType="withEffect">
                            <p:stCondLst>
                              <p:cond delay="300"/>
                            </p:stCondLst>
                            <p:childTnLst>
                              <p:animEffect transition="in" filter="fade">
                                <p:cBhvr>
                                  <p:cTn id="15" dur="800"/>
                                  <p:tgtEl>
                                    <p:spTgt spid="10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animEffect transition="in" filter="fade">
                                <p:cBhvr>
                                  <p:cTn id="25" dur="500"/>
                                  <p:tgtEl>
                                    <p:spTgt spid="10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presetID="10" presetClass="entr" presetSubtype="0" fill="hold" grpId="0" nodeType="withEffect">
                            <p:stCondLst>
                              <p:cond delay="1000"/>
                            </p:stCondLst>
                            <p:childTnLst>
                              <p:animEffect transition="in" filter="fade">
                                <p:cBhvr>
                                  <p:cTn id="35" dur="400"/>
                                  <p:tgtEl>
                                    <p:spTgt spid="10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23" presetClass="entr" presetSubtype="0" fill="hold" grpId="0" nodeType="withEffect">
                            <p:stCondLst>
                              <p:cond delay="1300"/>
                            </p:stCondLst>
                            <p:childTnLst>
                              <p:animEffect transition="in" filter="fade">
                                <p:cBhvr>
                                  <p:cTn id="45" dur="400"/>
                                  <p:tgtEl>
                                    <p:spTgt spid="10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presetID="23" presetClass="entr" presetSubtype="0" fill="hold" grpId="0" nodeType="withEffect">
                            <p:stCondLst>
                              <p:cond delay="1500"/>
                            </p:stCondLst>
                            <p:childTnLst>
                              <p:animEffect transition="in" filter="fade">
                                <p:cBhvr>
                                  <p:cTn id="55" dur="400"/>
                                  <p:tgtEl>
                                    <p:spTgt spid="10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23" presetClass="entr" presetSubtype="0" fill="hold" grpId="0" nodeType="withEffect">
                            <p:stCondLst>
                              <p:cond delay="1700"/>
                            </p:stCondLst>
                            <p:childTnLst>
                              <p:animEffect transition="in" filter="fade">
                                <p:cBhvr>
                                  <p:cTn id="65" dur="400"/>
                                  <p:tgtEl>
                                    <p:spTgt spid="10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presetID="23" presetClass="entr" presetSubtype="0" fill="hold" grpId="0" nodeType="withEffect">
                            <p:stCondLst>
                              <p:cond delay="1900"/>
                            </p:stCondLst>
                            <p:childTnLst>
                              <p:animEffect transition="in" filter="fade">
                                <p:cBhvr>
                                  <p:cTn id="75" dur="400"/>
                                  <p:tgtEl>
                                    <p:spTgt spid="10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